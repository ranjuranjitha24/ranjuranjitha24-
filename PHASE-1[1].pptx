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9" r:id="rId2"/>
    <p:sldId id="260" r:id="rId3"/>
    <p:sldId id="261" r:id="rId4"/>
    <p:sldId id="262" r:id="rId5"/>
    <p:sldId id="263" r:id="rId6"/>
    <p:sldId id="264" r:id="rId7"/>
    <p:sldId id="270" r:id="rId8"/>
    <p:sldId id="274" r:id="rId9"/>
    <p:sldId id="271" r:id="rId10"/>
    <p:sldId id="273" r:id="rId11"/>
    <p:sldId id="265" r:id="rId12"/>
    <p:sldId id="272" r:id="rId13"/>
    <p:sldId id="266" r:id="rId14"/>
    <p:sldId id="267" r:id="rId15"/>
    <p:sldId id="269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632" autoAdjust="0"/>
    <p:restoredTop sz="94660"/>
  </p:normalViewPr>
  <p:slideViewPr>
    <p:cSldViewPr snapToGrid="0">
      <p:cViewPr>
        <p:scale>
          <a:sx n="66" d="100"/>
          <a:sy n="66" d="100"/>
        </p:scale>
        <p:origin x="1344" y="4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3B5C9-5117-4F3E-956A-D3DBEE12EAF0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E0897B-591E-4585-8473-E75C64F8C4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6238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01C349-9697-4F61-BE58-ECBE8202BB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CC7DB4-6767-409F-9FA5-AB8BED8A8F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E673B4-C198-463C-8C9C-9E144548E4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0B4577-2F9F-4D8C-8B30-070C87E9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09357E-FF8D-4818-80CE-0EE112CDF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21423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83EC5-49E4-4B03-A5D9-F23043EEA8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8862C7-4FE8-4B48-9D18-E16EA1F599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D12F99-604D-4CA9-A1D9-F0BE15CCD1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401A8D-97D4-4D36-A0E0-61EB70A2E8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5D88EB-71C0-48BD-B40B-5ECF30EBF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44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E8538-469B-4482-B258-EA77837B75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458C36-B3A2-42FE-BEE2-E0961C3FE0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1AB318-428F-4044-8749-0C4438B9A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020606-93FF-4E54-A80B-9EA6C2DFDA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6B5CC9-4C99-43C2-967A-E19B99229E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181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5BE3C-156F-428F-8378-BA9BB6B9A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CD93F6-C90F-4127-BDE2-B84E9A83D4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807B8B-CD83-415E-8257-0E666F65A5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2E59B9-91FA-4D07-A91A-EB910BF12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D9E81-8F61-48CE-B97C-73D1D24DAE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D402DC8-1E17-4D9F-8A3A-874ECC7852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5707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B76C7-1EEB-40CA-B24F-BC5800B5C1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B4A97A-2A8F-4C9D-81D8-4E571F3FC3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1D1A47-D853-407C-A962-511E92B374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307F2B-C91C-4C2E-B277-6B96E9EB4C9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AC4E564-8C02-41DD-B5F9-D2CC7A6823D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2D1CD6A-982B-45FD-A86A-CADB38886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DA2AD-BCB6-4100-8557-80F81AA77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6F56BF9-C90C-4440-B3FF-D18D66293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19196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CD068-7EBE-4403-9FA2-E79E08D69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F86E94-BC50-4FAA-88F5-A8DF19EF15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84450-3928-469D-81A3-6B19DDEEC8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A80991-8723-4D0B-9680-73057FBAF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335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09BB61-37B1-4E60-900A-0C084E3A54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7C73F6-9500-4B5C-B408-ABC5443F5F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17892BB-9008-4A4D-B85D-DA9EB22CD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27773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CDF82-91E7-4F46-A284-61D343B91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D38C73-3CCE-40B3-82AA-7CF9A18F2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D30C46-909E-440F-8204-9B63C50F86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9A9898-F424-45AB-B228-03BFBE0B14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425DA5-7B74-4356-B6CB-16FAFF64E0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B85A856-AE89-4C1E-A280-C732B0F6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46580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CA65E-FC20-4FDA-8134-4C860C89F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FB1B579-BA77-4F5C-99D0-AE48D6A7B5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83C21F-EDA3-488F-A6C6-A6580FB046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B1EE644-A137-4DFA-A21C-622B89A519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BADC2-9891-472D-AC1D-16C41B5060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275B9B-D3B0-41EB-9029-7FDA8CA6C3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6579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A7142-9C06-44DC-8EFA-19EB49613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B4A9FE-0F82-41ED-B5CD-4797D81A08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53299-12C9-43F3-9D5D-64902E025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8E6CD9-0A6F-4E8E-9BEC-55695F3ADB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11C047-06D3-489D-9CB9-03568BB38F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91529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88158C-79A3-4C6E-AECB-C18284D3DCD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ABECE2B-FDDF-4600-9B94-0980FC6773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2C7F38-7473-4607-B703-094400A6A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37009B-7943-4B15-B511-A2085F46C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54D10C-2A96-409D-B049-D11BFE5F97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6014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F84777-595D-4E14-A87A-8CECFC677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3EAD663-8E31-4095-B9B5-2C5330297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9E115B-5E22-4039-BDDF-0D5A6B527E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75FF6-B33C-4718-8CC3-07F79A7055E5}" type="datetimeFigureOut">
              <a:rPr lang="en-IN" smtClean="0"/>
              <a:t>31-05-2025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D129DB-E14A-4500-BE07-EB719BA274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91A9B8-3F71-4546-BBB8-2C52862219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EAFD17-BA22-49F4-98A2-D240AF4AE49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35527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33718" y="1224222"/>
            <a:ext cx="10221294" cy="1006163"/>
          </a:xfrm>
          <a:solidFill>
            <a:schemeClr val="bg2">
              <a:lumMod val="9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>
            <a:noAutofit/>
          </a:bodyPr>
          <a:lstStyle/>
          <a:p>
            <a:b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4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3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“</a:t>
            </a:r>
            <a:r>
              <a:rPr lang="en-US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Blockchain based data pipeline to ensure fairness in datasets crowd sourcing.”</a:t>
            </a:r>
            <a:endParaRPr lang="en-IN" sz="3200" b="1" dirty="0">
              <a:solidFill>
                <a:schemeClr val="tx1">
                  <a:lumMod val="95000"/>
                  <a:lumOff val="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39452" y="3951640"/>
            <a:ext cx="4705323" cy="1761242"/>
          </a:xfrm>
          <a:ln>
            <a:solidFill>
              <a:srgbClr val="FF0000"/>
            </a:solidFill>
          </a:ln>
        </p:spPr>
        <p:txBody>
          <a:bodyPr>
            <a:normAutofit fontScale="77500" lnSpcReduction="20000"/>
          </a:bodyPr>
          <a:lstStyle/>
          <a:p>
            <a:pPr algn="ctr"/>
            <a:r>
              <a:rPr lang="en-US" sz="26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Presented By,</a:t>
            </a:r>
          </a:p>
          <a:p>
            <a:pPr algn="ctr"/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VIGNESH TD[4AD22CD0]</a:t>
            </a:r>
          </a:p>
          <a:p>
            <a:pPr algn="ctr"/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BHARATH .N[4AD22CD007]</a:t>
            </a:r>
          </a:p>
          <a:p>
            <a:pPr algn="ctr"/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RANJITHA [4AD22CD040]</a:t>
            </a:r>
          </a:p>
          <a:p>
            <a:pPr algn="ctr"/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ANANYA RAJ MN [4AD22CD005]</a:t>
            </a:r>
          </a:p>
          <a:p>
            <a:pPr algn="ctr"/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9135504" y="6396075"/>
            <a:ext cx="2844800" cy="365125"/>
          </a:xfrm>
        </p:spPr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2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EA5AE61-A35F-E300-D384-2967B16B89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70872" y="50502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6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8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" name="Picture 2">
            <a:extLst>
              <a:ext uri="{FF2B5EF4-FFF2-40B4-BE49-F238E27FC236}">
                <a16:creationId xmlns:a16="http://schemas.microsoft.com/office/drawing/2014/main" id="{479DA17A-7227-D17B-5F2A-04AE1F8A66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Subtitle 2">
            <a:extLst>
              <a:ext uri="{FF2B5EF4-FFF2-40B4-BE49-F238E27FC236}">
                <a16:creationId xmlns:a16="http://schemas.microsoft.com/office/drawing/2014/main" id="{84FE88D1-311E-9A90-F114-9C1994CCE492}"/>
              </a:ext>
            </a:extLst>
          </p:cNvPr>
          <p:cNvSpPr txBox="1">
            <a:spLocks/>
          </p:cNvSpPr>
          <p:nvPr/>
        </p:nvSpPr>
        <p:spPr>
          <a:xfrm>
            <a:off x="1029208" y="3951640"/>
            <a:ext cx="4705323" cy="1761242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vert="horz" lIns="91440" tIns="45720" rIns="91440" bIns="45720" rtlCol="0">
            <a:normAutofit fontScale="77500" lnSpcReduction="2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b="1" dirty="0">
                <a:latin typeface="Times New Roman" pitchFamily="18" charset="0"/>
                <a:cs typeface="Times New Roman" pitchFamily="18" charset="0"/>
              </a:rPr>
              <a:t>Under guidance of</a:t>
            </a:r>
          </a:p>
          <a:p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Prof Madhu Nagraj </a:t>
            </a:r>
          </a:p>
          <a:p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Assistant Professor,</a:t>
            </a:r>
          </a:p>
          <a:p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Department of CSE-DS</a:t>
            </a:r>
          </a:p>
          <a:p>
            <a:r>
              <a:rPr lang="en-IN" sz="2600" b="1" dirty="0">
                <a:solidFill>
                  <a:srgbClr val="002060"/>
                </a:solidFill>
                <a:latin typeface="Times New Roman" pitchFamily="18" charset="0"/>
                <a:cs typeface="Times New Roman" pitchFamily="18" charset="0"/>
              </a:rPr>
              <a:t>ATME College of Engineering, Mysuru</a:t>
            </a:r>
            <a:endParaRPr lang="en-US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73936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15" grpId="0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87300" y="236468"/>
            <a:ext cx="3955513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CONTENTS</a:t>
            </a:r>
          </a:p>
        </p:txBody>
      </p:sp>
      <p:sp>
        <p:nvSpPr>
          <p:cNvPr id="2" name="Rectangle 1"/>
          <p:cNvSpPr/>
          <p:nvPr/>
        </p:nvSpPr>
        <p:spPr>
          <a:xfrm>
            <a:off x="275914" y="1329986"/>
            <a:ext cx="10530625" cy="47017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Introduction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Problem Objectives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Literature Survey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Problem statement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Methodology 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Conclusion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References</a:t>
            </a:r>
          </a:p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6769927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406115" y="388644"/>
            <a:ext cx="4409636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ctr"/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BBB302F-FE1C-4510-975F-51747409688C}"/>
              </a:ext>
            </a:extLst>
          </p:cNvPr>
          <p:cNvSpPr txBox="1"/>
          <p:nvPr/>
        </p:nvSpPr>
        <p:spPr>
          <a:xfrm>
            <a:off x="609600" y="1517073"/>
            <a:ext cx="10292552" cy="6969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Artificial intelligence has been becoming a part of the daily life of human beings since the AI trend in 2020. 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system that helps people collect and share data fairly using blockchain technology.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blockchain-based data pipeline designed to make crowdsourced datasets fair, transparent, and trustworthy.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today's AI-driven world, data is power  but sourcing that data ethically, transparently, and fairly remains a massive challenge.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103844041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271122" y="236468"/>
            <a:ext cx="4583996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9844A6-D0BF-4DD0-923E-EFFC738326D1}"/>
              </a:ext>
            </a:extLst>
          </p:cNvPr>
          <p:cNvSpPr txBox="1"/>
          <p:nvPr/>
        </p:nvSpPr>
        <p:spPr>
          <a:xfrm>
            <a:off x="543340" y="1329986"/>
            <a:ext cx="10669772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provides a decentralized framework where data contributors can securely upload their data and receive transparent, automated rewards based on quality and value.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combining the immutability and transparency of blockchain with a decentralized approach to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validation and rewards,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ensures that crowdsourced datasets are fair and trustworthy.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7251818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2978476" y="186715"/>
            <a:ext cx="5125499" cy="731295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n-US" sz="40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Problem Objectives 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275914" y="1329986"/>
            <a:ext cx="11213721" cy="50815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 Decentralized Data Contribution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means letting anyone, anywhere share their data withou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needing to go through a big company or central system.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Data Traceability and Transparency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making sure that y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always know who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added the data, when they added it and no one 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secreatly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change it later.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a Fair and Incentive-Based Reward Mechanism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 creating a system where people who share good and useful data get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On-Chain Verification and Smart Contract Auditing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 :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On-Chain Verification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everything is written on the blockchain, so it’s clear and can’t be changed 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 Auditing ,it is used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check the rules 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 make sure they work properly and fairly.</a:t>
            </a: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IN" b="1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08541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305299" y="284091"/>
            <a:ext cx="4526736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e 14">
            <a:extLst>
              <a:ext uri="{FF2B5EF4-FFF2-40B4-BE49-F238E27FC236}">
                <a16:creationId xmlns:a16="http://schemas.microsoft.com/office/drawing/2014/main" id="{E19362E2-8B9C-4C68-9BC3-016CB4E1A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341424"/>
              </p:ext>
            </p:extLst>
          </p:nvPr>
        </p:nvGraphicFramePr>
        <p:xfrm>
          <a:off x="718336" y="1118519"/>
          <a:ext cx="10877314" cy="51583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50">
                  <a:extLst>
                    <a:ext uri="{9D8B030D-6E8A-4147-A177-3AD203B41FA5}">
                      <a16:colId xmlns:a16="http://schemas.microsoft.com/office/drawing/2014/main" val="3254082993"/>
                    </a:ext>
                  </a:extLst>
                </a:gridCol>
                <a:gridCol w="2731176">
                  <a:extLst>
                    <a:ext uri="{9D8B030D-6E8A-4147-A177-3AD203B41FA5}">
                      <a16:colId xmlns:a16="http://schemas.microsoft.com/office/drawing/2014/main" val="2416308427"/>
                    </a:ext>
                  </a:extLst>
                </a:gridCol>
                <a:gridCol w="2169304">
                  <a:extLst>
                    <a:ext uri="{9D8B030D-6E8A-4147-A177-3AD203B41FA5}">
                      <a16:colId xmlns:a16="http://schemas.microsoft.com/office/drawing/2014/main" val="1365971856"/>
                    </a:ext>
                  </a:extLst>
                </a:gridCol>
                <a:gridCol w="2181621">
                  <a:extLst>
                    <a:ext uri="{9D8B030D-6E8A-4147-A177-3AD203B41FA5}">
                      <a16:colId xmlns:a16="http://schemas.microsoft.com/office/drawing/2014/main" val="2326470827"/>
                    </a:ext>
                  </a:extLst>
                </a:gridCol>
                <a:gridCol w="2175463">
                  <a:extLst>
                    <a:ext uri="{9D8B030D-6E8A-4147-A177-3AD203B41FA5}">
                      <a16:colId xmlns:a16="http://schemas.microsoft.com/office/drawing/2014/main" val="4094111465"/>
                    </a:ext>
                  </a:extLst>
                </a:gridCol>
              </a:tblGrid>
              <a:tr h="807614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073439"/>
                  </a:ext>
                </a:extLst>
              </a:tr>
              <a:tr h="2430477">
                <a:tc>
                  <a:txBody>
                    <a:bodyPr/>
                    <a:lstStyle/>
                    <a:p>
                      <a:r>
                        <a:rPr lang="en-US" dirty="0"/>
                        <a:t>1.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A large-scale hierarchical image database.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Jia Deng, Wei Dong, Richard Socher, Li-Jia Li, Kai Li, and Li Fei-Fei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2009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In 2009 IEEE conference on computer vision and pattern recognition, pages 248–255. IEEE,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376966"/>
                  </a:ext>
                </a:extLst>
              </a:tr>
              <a:tr h="1844820">
                <a:tc>
                  <a:txBody>
                    <a:bodyPr/>
                    <a:lstStyle/>
                    <a:p>
                      <a:r>
                        <a:rPr lang="en-US" dirty="0"/>
                        <a:t>2.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 Next-Generation Smart Contract and Decentralized Application Platform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Vitalik Buterin, Ethereum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2014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000" dirty="0"/>
                        <a:t>A Next-Generation Smart Contract and Decentralized Application Platform</a:t>
                      </a:r>
                    </a:p>
                    <a:p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71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076157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7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305299" y="284091"/>
            <a:ext cx="4526736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3" name="Table 14">
            <a:extLst>
              <a:ext uri="{FF2B5EF4-FFF2-40B4-BE49-F238E27FC236}">
                <a16:creationId xmlns:a16="http://schemas.microsoft.com/office/drawing/2014/main" id="{E19362E2-8B9C-4C68-9BC3-016CB4E1A5C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93247353"/>
              </p:ext>
            </p:extLst>
          </p:nvPr>
        </p:nvGraphicFramePr>
        <p:xfrm>
          <a:off x="381965" y="1053140"/>
          <a:ext cx="1164413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28826">
                  <a:extLst>
                    <a:ext uri="{9D8B030D-6E8A-4147-A177-3AD203B41FA5}">
                      <a16:colId xmlns:a16="http://schemas.microsoft.com/office/drawing/2014/main" val="3254082993"/>
                    </a:ext>
                  </a:extLst>
                </a:gridCol>
                <a:gridCol w="2328826">
                  <a:extLst>
                    <a:ext uri="{9D8B030D-6E8A-4147-A177-3AD203B41FA5}">
                      <a16:colId xmlns:a16="http://schemas.microsoft.com/office/drawing/2014/main" val="2416308427"/>
                    </a:ext>
                  </a:extLst>
                </a:gridCol>
                <a:gridCol w="2322232">
                  <a:extLst>
                    <a:ext uri="{9D8B030D-6E8A-4147-A177-3AD203B41FA5}">
                      <a16:colId xmlns:a16="http://schemas.microsoft.com/office/drawing/2014/main" val="1365971856"/>
                    </a:ext>
                  </a:extLst>
                </a:gridCol>
                <a:gridCol w="2335420">
                  <a:extLst>
                    <a:ext uri="{9D8B030D-6E8A-4147-A177-3AD203B41FA5}">
                      <a16:colId xmlns:a16="http://schemas.microsoft.com/office/drawing/2014/main" val="2326470827"/>
                    </a:ext>
                  </a:extLst>
                </a:gridCol>
                <a:gridCol w="2328826">
                  <a:extLst>
                    <a:ext uri="{9D8B030D-6E8A-4147-A177-3AD203B41FA5}">
                      <a16:colId xmlns:a16="http://schemas.microsoft.com/office/drawing/2014/main" val="4094111465"/>
                    </a:ext>
                  </a:extLst>
                </a:gridCol>
              </a:tblGrid>
              <a:tr h="355598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073439"/>
                  </a:ext>
                </a:extLst>
              </a:tr>
              <a:tr h="1723281">
                <a:tc>
                  <a:txBody>
                    <a:bodyPr/>
                    <a:lstStyle/>
                    <a:p>
                      <a:r>
                        <a:rPr lang="en-US" dirty="0"/>
                        <a:t>3.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Image super-resolution via deep recursive residual network.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Ying Tai, Jian Yang, and Xiaoming Liu.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2017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 Proceedings of the IEEE conference on computer vision and pattern recognition, pages 3147–3155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571355"/>
                  </a:ext>
                </a:extLst>
              </a:tr>
              <a:tr h="1155892">
                <a:tc>
                  <a:txBody>
                    <a:bodyPr/>
                    <a:lstStyle/>
                    <a:p>
                      <a:r>
                        <a:rPr lang="en-US" dirty="0"/>
                        <a:t>4.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Incentive Mechanisms for Quality Data Contribution in Blockchain-Based Crowdsourcing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Garcia, G. Rodriguez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This study analyzes various incentive models, including token-based rewards and reputation systems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376966"/>
                  </a:ext>
                </a:extLst>
              </a:tr>
              <a:tr h="1449744">
                <a:tc>
                  <a:txBody>
                    <a:bodyPr/>
                    <a:lstStyle/>
                    <a:p>
                      <a:r>
                        <a:rPr lang="en-US" dirty="0"/>
                        <a:t>5.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Distributed, decentralized, and democratized artificial intelligence.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Gabriel Axel Montes and Ben </a:t>
                      </a:r>
                      <a:r>
                        <a:rPr lang="en-IN" sz="2000" dirty="0" err="1"/>
                        <a:t>Goertzel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2019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Technological Forecasting and Social Change, pages 141:354–358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71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4433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9">
            <a:extLst>
              <a:ext uri="{FF2B5EF4-FFF2-40B4-BE49-F238E27FC236}">
                <a16:creationId xmlns:a16="http://schemas.microsoft.com/office/drawing/2014/main" id="{C76213A7-1728-BA00-7271-59AA7A82BABB}"/>
              </a:ext>
            </a:extLst>
          </p:cNvPr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EDDFD5E-D66F-4C7A-54F3-12F5C42A9DD2}"/>
              </a:ext>
            </a:extLst>
          </p:cNvPr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45B106-20D4-030A-11FB-B9C5869C10AC}"/>
              </a:ext>
            </a:extLst>
          </p:cNvPr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ABAF50CE-AD36-233D-2216-0D1B1D8BF6CE}"/>
              </a:ext>
            </a:extLst>
          </p:cNvPr>
          <p:cNvSpPr txBox="1">
            <a:spLocks/>
          </p:cNvSpPr>
          <p:nvPr/>
        </p:nvSpPr>
        <p:spPr>
          <a:xfrm>
            <a:off x="3305299" y="284091"/>
            <a:ext cx="4526736" cy="68154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7137F5E2-DA2F-1D4A-A917-A1E071FA75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9" name="Picture 1">
            <a:extLst>
              <a:ext uri="{FF2B5EF4-FFF2-40B4-BE49-F238E27FC236}">
                <a16:creationId xmlns:a16="http://schemas.microsoft.com/office/drawing/2014/main" id="{91652257-6878-1907-7C82-89F3748A233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" name="Group 11">
            <a:extLst>
              <a:ext uri="{FF2B5EF4-FFF2-40B4-BE49-F238E27FC236}">
                <a16:creationId xmlns:a16="http://schemas.microsoft.com/office/drawing/2014/main" id="{E5271667-CE6E-B5A9-5CE8-AEBE939E4E49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11" name="Picture 2">
              <a:extLst>
                <a:ext uri="{FF2B5EF4-FFF2-40B4-BE49-F238E27FC236}">
                  <a16:creationId xmlns:a16="http://schemas.microsoft.com/office/drawing/2014/main" id="{BC0E7AFB-351B-63E2-39E1-FA0208400E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3" descr="aja-uk_iso-9001_2015">
              <a:extLst>
                <a:ext uri="{FF2B5EF4-FFF2-40B4-BE49-F238E27FC236}">
                  <a16:creationId xmlns:a16="http://schemas.microsoft.com/office/drawing/2014/main" id="{BB8D50C9-AFB4-F224-DAFB-DE288483A0C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3" name="Picture 2">
            <a:extLst>
              <a:ext uri="{FF2B5EF4-FFF2-40B4-BE49-F238E27FC236}">
                <a16:creationId xmlns:a16="http://schemas.microsoft.com/office/drawing/2014/main" id="{498D5614-83B3-7CAC-91AD-F22CE25E2B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758F3B56-B8C7-3B1B-D429-132882E515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6101464"/>
              </p:ext>
            </p:extLst>
          </p:nvPr>
        </p:nvGraphicFramePr>
        <p:xfrm>
          <a:off x="381965" y="1053141"/>
          <a:ext cx="11595369" cy="588615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19074">
                  <a:extLst>
                    <a:ext uri="{9D8B030D-6E8A-4147-A177-3AD203B41FA5}">
                      <a16:colId xmlns:a16="http://schemas.microsoft.com/office/drawing/2014/main" val="3254082993"/>
                    </a:ext>
                  </a:extLst>
                </a:gridCol>
                <a:gridCol w="2319074">
                  <a:extLst>
                    <a:ext uri="{9D8B030D-6E8A-4147-A177-3AD203B41FA5}">
                      <a16:colId xmlns:a16="http://schemas.microsoft.com/office/drawing/2014/main" val="2416308427"/>
                    </a:ext>
                  </a:extLst>
                </a:gridCol>
                <a:gridCol w="2312507">
                  <a:extLst>
                    <a:ext uri="{9D8B030D-6E8A-4147-A177-3AD203B41FA5}">
                      <a16:colId xmlns:a16="http://schemas.microsoft.com/office/drawing/2014/main" val="1365971856"/>
                    </a:ext>
                  </a:extLst>
                </a:gridCol>
                <a:gridCol w="2325640">
                  <a:extLst>
                    <a:ext uri="{9D8B030D-6E8A-4147-A177-3AD203B41FA5}">
                      <a16:colId xmlns:a16="http://schemas.microsoft.com/office/drawing/2014/main" val="2326470827"/>
                    </a:ext>
                  </a:extLst>
                </a:gridCol>
                <a:gridCol w="2319074">
                  <a:extLst>
                    <a:ext uri="{9D8B030D-6E8A-4147-A177-3AD203B41FA5}">
                      <a16:colId xmlns:a16="http://schemas.microsoft.com/office/drawing/2014/main" val="4094111465"/>
                    </a:ext>
                  </a:extLst>
                </a:gridCol>
              </a:tblGrid>
              <a:tr h="388878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6073439"/>
                  </a:ext>
                </a:extLst>
              </a:tr>
              <a:tr h="1884561">
                <a:tc>
                  <a:txBody>
                    <a:bodyPr/>
                    <a:lstStyle/>
                    <a:p>
                      <a:r>
                        <a:rPr lang="en-US" dirty="0"/>
                        <a:t>6.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Blockchain for Data Provenance and Integrity in Crowdsourced Datasets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sz="2000" dirty="0"/>
                        <a:t>A. Smith, B. Jones, C. Davis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It discusses cryptographic linking of data blocks to ensure tamper-proof provenance.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5571355"/>
                  </a:ext>
                </a:extLst>
              </a:tr>
              <a:tr h="1585424">
                <a:tc>
                  <a:txBody>
                    <a:bodyPr/>
                    <a:lstStyle/>
                    <a:p>
                      <a:r>
                        <a:rPr lang="en-US" dirty="0"/>
                        <a:t>7.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Decentralized Data Marketplaces: Challenges and Opportunities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L. Green, M. Hall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2020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This survey provides an overview of the current landscape of decentralized data marketplaces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1376966"/>
                  </a:ext>
                </a:extLst>
              </a:tr>
              <a:tr h="1954237">
                <a:tc>
                  <a:txBody>
                    <a:bodyPr/>
                    <a:lstStyle/>
                    <a:p>
                      <a:r>
                        <a:rPr lang="en-US" dirty="0"/>
                        <a:t>8.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Secure and Privacy-Preserving Data Aggregation in Blockchain-Based Systems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N. Patel, O. Khan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2021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This research explores methods for securely aggregating sensitive data from multiple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14716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8559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9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305299" y="284091"/>
            <a:ext cx="4526736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Survey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12" name="Table 13">
            <a:extLst>
              <a:ext uri="{FF2B5EF4-FFF2-40B4-BE49-F238E27FC236}">
                <a16:creationId xmlns:a16="http://schemas.microsoft.com/office/drawing/2014/main" id="{176E7159-13A6-4E75-BC2E-A010B1E8EC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0177926"/>
              </p:ext>
            </p:extLst>
          </p:nvPr>
        </p:nvGraphicFramePr>
        <p:xfrm>
          <a:off x="933061" y="1298712"/>
          <a:ext cx="10420740" cy="540002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4148">
                  <a:extLst>
                    <a:ext uri="{9D8B030D-6E8A-4147-A177-3AD203B41FA5}">
                      <a16:colId xmlns:a16="http://schemas.microsoft.com/office/drawing/2014/main" val="1486896754"/>
                    </a:ext>
                  </a:extLst>
                </a:gridCol>
                <a:gridCol w="2084148">
                  <a:extLst>
                    <a:ext uri="{9D8B030D-6E8A-4147-A177-3AD203B41FA5}">
                      <a16:colId xmlns:a16="http://schemas.microsoft.com/office/drawing/2014/main" val="535076285"/>
                    </a:ext>
                  </a:extLst>
                </a:gridCol>
                <a:gridCol w="2008286">
                  <a:extLst>
                    <a:ext uri="{9D8B030D-6E8A-4147-A177-3AD203B41FA5}">
                      <a16:colId xmlns:a16="http://schemas.microsoft.com/office/drawing/2014/main" val="1876146924"/>
                    </a:ext>
                  </a:extLst>
                </a:gridCol>
                <a:gridCol w="2160010">
                  <a:extLst>
                    <a:ext uri="{9D8B030D-6E8A-4147-A177-3AD203B41FA5}">
                      <a16:colId xmlns:a16="http://schemas.microsoft.com/office/drawing/2014/main" val="2693707565"/>
                    </a:ext>
                  </a:extLst>
                </a:gridCol>
                <a:gridCol w="2084148">
                  <a:extLst>
                    <a:ext uri="{9D8B030D-6E8A-4147-A177-3AD203B41FA5}">
                      <a16:colId xmlns:a16="http://schemas.microsoft.com/office/drawing/2014/main" val="798000198"/>
                    </a:ext>
                  </a:extLst>
                </a:gridCol>
              </a:tblGrid>
              <a:tr h="734033">
                <a:tc>
                  <a:txBody>
                    <a:bodyPr/>
                    <a:lstStyle/>
                    <a:p>
                      <a:r>
                        <a:rPr lang="en-US" sz="20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Years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Summary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7736631"/>
                  </a:ext>
                </a:extLst>
              </a:tr>
              <a:tr h="2136149">
                <a:tc>
                  <a:txBody>
                    <a:bodyPr/>
                    <a:lstStyle/>
                    <a:p>
                      <a:r>
                        <a:rPr lang="en-US" dirty="0"/>
                        <a:t>9.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Addressing Data Bias in Crowdsourced AI Datasets through Blockchain Auditing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dirty="0"/>
                        <a:t>J. White, K. Brown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This work focuses on the ethical implications of data bias in AI and proposes a blockchain-enabled auditing layer to track 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3757928"/>
                  </a:ext>
                </a:extLst>
              </a:tr>
              <a:tr h="2136149">
                <a:tc>
                  <a:txBody>
                    <a:bodyPr/>
                    <a:lstStyle/>
                    <a:p>
                      <a:r>
                        <a:rPr lang="en-US" dirty="0"/>
                        <a:t>10.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Ocean protocol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Trent </a:t>
                      </a:r>
                      <a:r>
                        <a:rPr lang="en-IN" sz="2000" b="0" i="0" kern="1200" dirty="0" err="1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McConaghy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2022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000" b="0" i="1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Tools for the web3 data economy.</a:t>
                      </a:r>
                      <a:r>
                        <a:rPr lang="en-IN" sz="2000" b="0" i="0" kern="1200" dirty="0">
                          <a:solidFill>
                            <a:schemeClr val="dk1"/>
                          </a:solidFill>
                          <a:effectLst/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 In Handbook on Blockchain, pages 505–539. Springer</a:t>
                      </a:r>
                      <a:endParaRPr lang="en-IN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47706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7046473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10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563469" y="236468"/>
            <a:ext cx="3955513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275914" y="1329986"/>
            <a:ext cx="10530625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55E25E-F92A-458A-8374-329858EE7892}"/>
              </a:ext>
            </a:extLst>
          </p:cNvPr>
          <p:cNvSpPr txBox="1"/>
          <p:nvPr/>
        </p:nvSpPr>
        <p:spPr>
          <a:xfrm>
            <a:off x="761999" y="1329986"/>
            <a:ext cx="10530625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&amp; Machine Learning Dataset Creation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Collects high-quality, diverse training data from multiple sources.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Healthcare Research &amp; Medical Studies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safe and fair collection of sensitive health data for research. Maintains privacy, transparency, and trust between patients and researchers.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Platforms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Rewards contributions using incentive mechanisms powered by smart contracts.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 Data Platforms &amp; Government Projects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Used by governments to crowdsource data (e.g., census, traffic, surveys). Builds public trust through transparency and fairness.</a:t>
            </a:r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0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IN" sz="2000" b="1" dirty="0"/>
          </a:p>
          <a:p>
            <a:pPr marL="457200" indent="-457200">
              <a:lnSpc>
                <a:spcPct val="150000"/>
              </a:lnSpc>
              <a:buFont typeface="+mj-lt"/>
              <a:buAutoNum type="arabicPeriod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2699469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11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389680" y="323816"/>
            <a:ext cx="4420593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2" name="Rectangle 1"/>
          <p:cNvSpPr/>
          <p:nvPr/>
        </p:nvSpPr>
        <p:spPr>
          <a:xfrm>
            <a:off x="275914" y="1329986"/>
            <a:ext cx="10530625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Fig 1.1 : Representation of Blockchain based data pipeline &#10;for fair datasets crowd sourcing ">
            <a:extLst>
              <a:ext uri="{FF2B5EF4-FFF2-40B4-BE49-F238E27FC236}">
                <a16:creationId xmlns:a16="http://schemas.microsoft.com/office/drawing/2014/main" id="{7978F57E-443A-4C5D-8484-EBA20538F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5093" y="1179635"/>
            <a:ext cx="4908785" cy="406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6383D4B-21DF-42A9-82D8-D1F02247CCCA}"/>
              </a:ext>
            </a:extLst>
          </p:cNvPr>
          <p:cNvSpPr txBox="1"/>
          <p:nvPr/>
        </p:nvSpPr>
        <p:spPr>
          <a:xfrm>
            <a:off x="5454329" y="870588"/>
            <a:ext cx="5969172" cy="55829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Contributor : </a:t>
            </a:r>
            <a:r>
              <a:rPr lang="en-US" sz="200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erm data contributor refers to a person, organization, or system that provides data to a database, platform, research project, or system.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Data Ingestion Layer 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This is where contributors interact with the system and </a:t>
            </a:r>
            <a:r>
              <a:rPr lang="en-US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users submit datasets like images, text, or structured data through an interface that collects and prepares the data for further processing.</a:t>
            </a:r>
            <a:endParaRPr lang="en-US" sz="2000" dirty="0">
              <a:solidFill>
                <a:srgbClr val="0D0D0D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On-Chain Metadata Tracker &amp; Quality Evaluation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A tool that looks at information stored on a blockchain and checks if the information is correct and complete.</a:t>
            </a:r>
            <a:endParaRPr lang="en-US" sz="2000" b="0" i="0" dirty="0">
              <a:solidFill>
                <a:srgbClr val="0D0D0D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9589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12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271122" y="236468"/>
            <a:ext cx="4583996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99844A6-D0BF-4DD0-923E-EFFC738326D1}"/>
              </a:ext>
            </a:extLst>
          </p:cNvPr>
          <p:cNvSpPr txBox="1"/>
          <p:nvPr/>
        </p:nvSpPr>
        <p:spPr>
          <a:xfrm>
            <a:off x="543340" y="1329986"/>
            <a:ext cx="10669772" cy="82176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Off-Chain Storage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storing big files somewhere else, not directly on the blockchain, The actual file (like a photo, video, or document) is kept in another place (like Google Drive, cloud storage) .This keeps the blockchain fast and cheap, but the data is still safe and easy to find.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Smart Contracts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smart contract is like a computer program that runs by itself on the blockchain.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 works like it has rules written in code.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Audit Layer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audit layer is like a checker that makes sure everything is correct and safe .And helps make sure no one is cheating or doing anything wrong.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000" b="1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Access Layer</a:t>
            </a:r>
            <a:r>
              <a:rPr lang="en-IN" sz="2000" b="0" i="0" dirty="0">
                <a:solidFill>
                  <a:srgbClr val="0D0D0D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 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access layer is the part of a system that controls -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can get in and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they are allowed to see or do , and it makes sure that only the right people can look at or change certain things.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b="1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Ø"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7186233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13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4087300" y="236468"/>
            <a:ext cx="3955513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" name="Rectangle 1"/>
          <p:cNvSpPr/>
          <p:nvPr/>
        </p:nvSpPr>
        <p:spPr>
          <a:xfrm>
            <a:off x="275914" y="1329986"/>
            <a:ext cx="10530625" cy="8237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71500" indent="-57150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3600" b="1" dirty="0">
              <a:solidFill>
                <a:srgbClr val="00206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C55E25E-F92A-458A-8374-329858EE7892}"/>
              </a:ext>
            </a:extLst>
          </p:cNvPr>
          <p:cNvSpPr txBox="1"/>
          <p:nvPr/>
        </p:nvSpPr>
        <p:spPr>
          <a:xfrm>
            <a:off x="761999" y="1329986"/>
            <a:ext cx="10530625" cy="55846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groundbreaking approach to addressing fairness, transparency, and trust in crowdsourced data collection.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AI and data governance become more critical,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offers a secure, decentralized, and privacy-respecting foundation for next-gen data systems.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Pipechime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enables anyone from researchers to citizens to contribute and benefit from data, creating inclusive AI ecosystems.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AI models are trained on fair, and community-verified data, users and stakeholders are more likely to trust the outcomes.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Enables Transparent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Collaboration:Where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researchers and other communities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without needing to trust a central authority because transparency is built in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9658193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14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806651" y="243865"/>
            <a:ext cx="3955513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3E7D8B-66AF-46C9-AE62-F931FF2291B7}"/>
              </a:ext>
            </a:extLst>
          </p:cNvPr>
          <p:cNvSpPr txBox="1"/>
          <p:nvPr/>
        </p:nvSpPr>
        <p:spPr>
          <a:xfrm>
            <a:off x="748146" y="1447799"/>
            <a:ext cx="10502356" cy="46536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Wikipedia, History of Artificial Intelligence, AI Boom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Forbes E-Article, Harnessing Generative AI: A $4.4 Trillion Opportunity For The Global Economy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IBM E-Article, The future of AI: trends shaping the next 10 years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Ying Tai, Jian Yang, and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Xiaoming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Liu. Image super-resolution via deep recursive residual network. In Proceedings of the IEEE conference on computer vision and pattern recognition, pages 3147–3155, 2017.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Jia Deng, Wei Dong, Richard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Socher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Li-Jia Li, Kai Li, and Li Fei-Fei. ImageNet: A large-scale hierarchical image database. In 2009 IEEE conference on computer vision and pattern recognition, pages 248–255. IEEE, 2009</a:t>
            </a:r>
          </a:p>
        </p:txBody>
      </p:sp>
    </p:spTree>
    <p:extLst>
      <p:ext uri="{BB962C8B-B14F-4D97-AF65-F5344CB8AC3E}">
        <p14:creationId xmlns:p14="http://schemas.microsoft.com/office/powerpoint/2010/main" val="78341365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15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3806651" y="243865"/>
            <a:ext cx="3955513" cy="681542"/>
          </a:xfr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FD3E7D8B-66AF-46C9-AE62-F931FF2291B7}"/>
              </a:ext>
            </a:extLst>
          </p:cNvPr>
          <p:cNvSpPr txBox="1"/>
          <p:nvPr/>
        </p:nvSpPr>
        <p:spPr>
          <a:xfrm>
            <a:off x="748146" y="1447799"/>
            <a:ext cx="10502356" cy="18912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150000"/>
              </a:lnSpc>
              <a:buAutoNum type="arabicPeriod" startAt="6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Gabriel Axel Montes and Ben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Goertzel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Distributed, decentralized, and democratized artificial                                  Intelligence. Technological Forecasting and Social Change, 141:354–358, 2019.</a:t>
            </a:r>
          </a:p>
          <a:p>
            <a:pPr marL="457200" indent="-457200">
              <a:lnSpc>
                <a:spcPct val="150000"/>
              </a:lnSpc>
              <a:buAutoNum type="arabicPeriod" startAt="6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Trent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McConaghy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Ocean protocol: Tools for the web3 data economy. In Handbook on Blockchain, pages 505–539. Springer, 2022 </a:t>
            </a:r>
          </a:p>
        </p:txBody>
      </p:sp>
    </p:spTree>
    <p:extLst>
      <p:ext uri="{BB962C8B-B14F-4D97-AF65-F5344CB8AC3E}">
        <p14:creationId xmlns:p14="http://schemas.microsoft.com/office/powerpoint/2010/main" val="80197080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A272BB-64A1-4A54-AE08-B088513E2C1B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/>
              <a:t>16</a:t>
            </a:fld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Footer Placeholder 9"/>
          <p:cNvSpPr txBox="1">
            <a:spLocks/>
          </p:cNvSpPr>
          <p:nvPr/>
        </p:nvSpPr>
        <p:spPr>
          <a:xfrm>
            <a:off x="3271122" y="6396075"/>
            <a:ext cx="7979380" cy="47016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rgbClr val="FFC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Department of CSE-DS, ATMECE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396075"/>
            <a:ext cx="1867437" cy="461925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    </a:t>
            </a:r>
            <a:endParaRPr lang="en-US" sz="1600" dirty="0">
              <a:solidFill>
                <a:srgbClr val="FFC000"/>
              </a:solidFill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403684" y="6404315"/>
            <a:ext cx="2266795" cy="461925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ATME College of Engineering, Mysuru</a:t>
            </a:r>
          </a:p>
        </p:txBody>
      </p:sp>
      <p:sp>
        <p:nvSpPr>
          <p:cNvPr id="2" name="Rectangle 1"/>
          <p:cNvSpPr/>
          <p:nvPr/>
        </p:nvSpPr>
        <p:spPr>
          <a:xfrm>
            <a:off x="719877" y="2376674"/>
            <a:ext cx="10530625" cy="9863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600" b="1" dirty="0">
                <a:solidFill>
                  <a:srgbClr val="002060"/>
                </a:solidFill>
                <a:latin typeface="Times New Roman" panose="02020603050405020304" pitchFamily="18" charset="0"/>
              </a:rPr>
              <a:t>                                </a:t>
            </a:r>
            <a:r>
              <a:rPr lang="en-US" sz="4400" b="1" dirty="0">
                <a:latin typeface="Times New Roman" panose="02020603050405020304" pitchFamily="18" charset="0"/>
              </a:rPr>
              <a:t>THANK YOU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13993C-DD3E-7BFA-E280-457F9906D79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8625" y="74158"/>
            <a:ext cx="1343489" cy="10061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6" name="Picture 1">
            <a:extLst>
              <a:ext uri="{FF2B5EF4-FFF2-40B4-BE49-F238E27FC236}">
                <a16:creationId xmlns:a16="http://schemas.microsoft.com/office/drawing/2014/main" id="{6222B1FB-1297-A354-C3DF-8C790699FC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4" t="9660" r="3165" b="11572"/>
          <a:stretch>
            <a:fillRect/>
          </a:stretch>
        </p:blipFill>
        <p:spPr bwMode="auto">
          <a:xfrm>
            <a:off x="214666" y="186715"/>
            <a:ext cx="2389187" cy="869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" name="Group 11">
            <a:extLst>
              <a:ext uri="{FF2B5EF4-FFF2-40B4-BE49-F238E27FC236}">
                <a16:creationId xmlns:a16="http://schemas.microsoft.com/office/drawing/2014/main" id="{94799052-7028-1ADD-6D6E-6AA46F9C0DB4}"/>
              </a:ext>
            </a:extLst>
          </p:cNvPr>
          <p:cNvGrpSpPr>
            <a:grpSpLocks/>
          </p:cNvGrpSpPr>
          <p:nvPr/>
        </p:nvGrpSpPr>
        <p:grpSpPr bwMode="auto">
          <a:xfrm>
            <a:off x="9692114" y="186715"/>
            <a:ext cx="1114425" cy="781050"/>
            <a:chOff x="0" y="0"/>
            <a:chExt cx="1110192" cy="778933"/>
          </a:xfrm>
        </p:grpSpPr>
        <p:pic>
          <p:nvPicPr>
            <p:cNvPr id="9" name="Picture 2">
              <a:extLst>
                <a:ext uri="{FF2B5EF4-FFF2-40B4-BE49-F238E27FC236}">
                  <a16:creationId xmlns:a16="http://schemas.microsoft.com/office/drawing/2014/main" id="{8DD2BEF2-AE53-9187-8B15-A47B9358FB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1110192" cy="77893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3" descr="aja-uk_iso-9001_2015">
              <a:extLst>
                <a:ext uri="{FF2B5EF4-FFF2-40B4-BE49-F238E27FC236}">
                  <a16:creationId xmlns:a16="http://schemas.microsoft.com/office/drawing/2014/main" id="{C5DCF40A-F68A-F9B3-6803-38B4B89E037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130" t="2490"/>
            <a:stretch>
              <a:fillRect/>
            </a:stretch>
          </p:blipFill>
          <p:spPr bwMode="auto">
            <a:xfrm>
              <a:off x="95250" y="116417"/>
              <a:ext cx="360527" cy="4997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1" name="Picture 2">
            <a:extLst>
              <a:ext uri="{FF2B5EF4-FFF2-40B4-BE49-F238E27FC236}">
                <a16:creationId xmlns:a16="http://schemas.microsoft.com/office/drawing/2014/main" id="{833BF5CC-3221-72F7-8F66-3BF2ADC10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02152" y="243865"/>
            <a:ext cx="819150" cy="723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24148272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1537</Words>
  <Application>Microsoft Office PowerPoint</Application>
  <PresentationFormat>Widescreen</PresentationFormat>
  <Paragraphs>212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Times New Roman</vt:lpstr>
      <vt:lpstr>Wingdings</vt:lpstr>
      <vt:lpstr>Office Theme</vt:lpstr>
      <vt:lpstr>      “PipeChime: Blockchain based data pipeline to ensure fairness in datasets crowd sourcing.”</vt:lpstr>
      <vt:lpstr>CONTENTS</vt:lpstr>
      <vt:lpstr>INTRODUCTION</vt:lpstr>
      <vt:lpstr>INTRODUCTION</vt:lpstr>
      <vt:lpstr>Problem Objectives </vt:lpstr>
      <vt:lpstr>Literature Survey</vt:lpstr>
      <vt:lpstr>Literature Survey</vt:lpstr>
      <vt:lpstr>PowerPoint Presentation</vt:lpstr>
      <vt:lpstr>Literature Survey</vt:lpstr>
      <vt:lpstr>APPLICATION</vt:lpstr>
      <vt:lpstr>METHODOLOGY</vt:lpstr>
      <vt:lpstr>METHODOLOGY</vt:lpstr>
      <vt:lpstr>CONCLUSION</vt:lpstr>
      <vt:lpstr>REFERENCE</vt:lpstr>
      <vt:lpstr>REFERENCE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“PipeChime: Blockchain based data pipeline to ensure fairness in datasets crowd sourcing.”</dc:title>
  <dc:creator>Admin</dc:creator>
  <cp:lastModifiedBy>Bharath Gowda</cp:lastModifiedBy>
  <cp:revision>5</cp:revision>
  <dcterms:created xsi:type="dcterms:W3CDTF">2025-04-24T14:37:27Z</dcterms:created>
  <dcterms:modified xsi:type="dcterms:W3CDTF">2025-05-31T05:45:20Z</dcterms:modified>
</cp:coreProperties>
</file>