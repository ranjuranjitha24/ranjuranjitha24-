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 id="275" r:id="rId7"/>
    <p:sldId id="295" r:id="rId8"/>
    <p:sldId id="294" r:id="rId9"/>
    <p:sldId id="276" r:id="rId10"/>
    <p:sldId id="296" r:id="rId11"/>
    <p:sldId id="297" r:id="rId12"/>
    <p:sldId id="298" r:id="rId13"/>
    <p:sldId id="299" r:id="rId14"/>
    <p:sldId id="300" r:id="rId15"/>
    <p:sldId id="301" r:id="rId16"/>
    <p:sldId id="302" r:id="rId17"/>
    <p:sldId id="303" r:id="rId18"/>
    <p:sldId id="304" r:id="rId19"/>
    <p:sldId id="30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884E10-02FF-FA57-D05A-82A4470C6F3B}" v="6" dt="2025-11-01T13:12:21.3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58" autoAdjust="0"/>
    <p:restoredTop sz="94291" autoAdjust="0"/>
  </p:normalViewPr>
  <p:slideViewPr>
    <p:cSldViewPr snapToGrid="0">
      <p:cViewPr varScale="1">
        <p:scale>
          <a:sx n="72" d="100"/>
          <a:sy n="72" d="100"/>
        </p:scale>
        <p:origin x="846"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ED9A0B1-3E97-43E2-ACDB-86D56A570D1B}"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3196064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ED9A0B1-3E97-43E2-ACDB-86D56A570D1B}"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1406379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ED9A0B1-3E97-43E2-ACDB-86D56A570D1B}"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130189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ED9A0B1-3E97-43E2-ACDB-86D56A570D1B}"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2496813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ED9A0B1-3E97-43E2-ACDB-86D56A570D1B}"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1275867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ED9A0B1-3E97-43E2-ACDB-86D56A570D1B}"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731128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D9A0B1-3E97-43E2-ACDB-86D56A570D1B}"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3014368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ED9A0B1-3E97-43E2-ACDB-86D56A570D1B}"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3380151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ED9A0B1-3E97-43E2-ACDB-86D56A570D1B}"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243055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ED9A0B1-3E97-43E2-ACDB-86D56A570D1B}"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2868936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ED9A0B1-3E97-43E2-ACDB-86D56A570D1B}"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2968381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D9A0B1-3E97-43E2-ACDB-86D56A570D1B}" type="datetimeFigureOut">
              <a:rPr lang="en-US" smtClean="0"/>
              <a:t>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B4BF2A-6908-48BA-BCA3-64D3A550E74C}" type="slidenum">
              <a:rPr lang="en-US" smtClean="0"/>
              <a:t>‹#›</a:t>
            </a:fld>
            <a:endParaRPr lang="en-US"/>
          </a:p>
        </p:txBody>
      </p:sp>
    </p:spTree>
    <p:extLst>
      <p:ext uri="{BB962C8B-B14F-4D97-AF65-F5344CB8AC3E}">
        <p14:creationId xmlns:p14="http://schemas.microsoft.com/office/powerpoint/2010/main" val="3183143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4.pn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1</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186715"/>
            <a:ext cx="879597" cy="722905"/>
          </a:xfrm>
          <a:prstGeom prst="rect">
            <a:avLst/>
          </a:prstGeom>
        </p:spPr>
      </p:pic>
      <p:sp>
        <p:nvSpPr>
          <p:cNvPr id="17" name="Rectangle 1"/>
          <p:cNvSpPr>
            <a:spLocks noChangeArrowheads="1"/>
          </p:cNvSpPr>
          <p:nvPr/>
        </p:nvSpPr>
        <p:spPr bwMode="auto">
          <a:xfrm>
            <a:off x="119270" y="1173398"/>
            <a:ext cx="11662479"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ctr"/>
            <a:r>
              <a:rPr lang="en-US" altLang="en-US" sz="4000" b="1" dirty="0">
                <a:solidFill>
                  <a:srgbClr val="002060"/>
                </a:solidFill>
                <a:latin typeface="Times New Roman" pitchFamily="18" charset="0"/>
                <a:cs typeface="Times New Roman" pitchFamily="18" charset="0"/>
              </a:rPr>
              <a:t>Federated learning and blockchain based data pipeline to ensure compliances in data sourcing</a:t>
            </a:r>
          </a:p>
          <a:p>
            <a:pPr algn="ctr"/>
            <a:r>
              <a:rPr lang="en-US" altLang="en-US" sz="3600" b="1" dirty="0">
                <a:solidFill>
                  <a:srgbClr val="002060"/>
                </a:solidFill>
                <a:latin typeface="Times New Roman" pitchFamily="18" charset="0"/>
                <a:cs typeface="Times New Roman" pitchFamily="18" charset="0"/>
              </a:rPr>
              <a:t> </a:t>
            </a:r>
          </a:p>
          <a:p>
            <a:pPr algn="ctr"/>
            <a:endParaRPr lang="en-US" altLang="en-US" sz="3600" b="1" dirty="0">
              <a:latin typeface="Times New Roman" pitchFamily="18" charset="0"/>
              <a:cs typeface="Times New Roman" pitchFamily="18" charset="0"/>
            </a:endParaRPr>
          </a:p>
        </p:txBody>
      </p:sp>
      <p:sp>
        <p:nvSpPr>
          <p:cNvPr id="19" name="TextBox 18"/>
          <p:cNvSpPr txBox="1"/>
          <p:nvPr/>
        </p:nvSpPr>
        <p:spPr>
          <a:xfrm>
            <a:off x="822201" y="4043960"/>
            <a:ext cx="3881191" cy="2462213"/>
          </a:xfrm>
          <a:prstGeom prst="rect">
            <a:avLst/>
          </a:prstGeom>
          <a:noFill/>
        </p:spPr>
        <p:txBody>
          <a:bodyPr wrap="none" rtlCol="0">
            <a:spAutoFit/>
          </a:bodyPr>
          <a:lstStyle/>
          <a:p>
            <a:pPr algn="ctr"/>
            <a:r>
              <a:rPr lang="en-US" sz="2200" dirty="0">
                <a:latin typeface="Times New Roman" pitchFamily="18" charset="0"/>
                <a:cs typeface="Times New Roman" pitchFamily="18" charset="0"/>
              </a:rPr>
              <a:t>Presented by,</a:t>
            </a:r>
          </a:p>
          <a:p>
            <a:pPr algn="ctr"/>
            <a:r>
              <a:rPr lang="en-US" sz="2200" dirty="0">
                <a:latin typeface="Times New Roman" pitchFamily="18" charset="0"/>
                <a:cs typeface="Times New Roman" pitchFamily="18" charset="0"/>
              </a:rPr>
              <a:t>Ananya Raj MN(4AD22CD005)</a:t>
            </a:r>
          </a:p>
          <a:p>
            <a:pPr algn="ctr"/>
            <a:r>
              <a:rPr lang="en-US" sz="2200" dirty="0">
                <a:latin typeface="Times New Roman" pitchFamily="18" charset="0"/>
                <a:cs typeface="Times New Roman" pitchFamily="18" charset="0"/>
              </a:rPr>
              <a:t>Bharath N(4AD22CD07)</a:t>
            </a:r>
          </a:p>
          <a:p>
            <a:pPr algn="ctr"/>
            <a:r>
              <a:rPr lang="en-US" sz="2200" dirty="0">
                <a:latin typeface="Times New Roman" pitchFamily="18" charset="0"/>
                <a:cs typeface="Times New Roman" pitchFamily="18" charset="0"/>
              </a:rPr>
              <a:t>Ranjitha(4AD22CD40)</a:t>
            </a:r>
          </a:p>
          <a:p>
            <a:pPr algn="ctr"/>
            <a:r>
              <a:rPr lang="en-US" sz="2200" dirty="0">
                <a:latin typeface="Times New Roman" pitchFamily="18" charset="0"/>
                <a:cs typeface="Times New Roman" pitchFamily="18" charset="0"/>
              </a:rPr>
              <a:t>Vignesh TD(4AD22CD056)</a:t>
            </a:r>
          </a:p>
          <a:p>
            <a:pPr algn="ctr"/>
            <a:endParaRPr lang="en-US" sz="2200" dirty="0">
              <a:solidFill>
                <a:srgbClr val="7030A0"/>
              </a:solidFill>
              <a:latin typeface="Times New Roman" pitchFamily="18" charset="0"/>
              <a:cs typeface="Times New Roman" pitchFamily="18" charset="0"/>
            </a:endParaRPr>
          </a:p>
          <a:p>
            <a:pPr algn="ctr"/>
            <a:endParaRPr lang="en-US" sz="2200" dirty="0">
              <a:solidFill>
                <a:srgbClr val="7030A0"/>
              </a:solidFill>
              <a:latin typeface="Times New Roman" pitchFamily="18" charset="0"/>
              <a:cs typeface="Times New Roman" pitchFamily="18" charset="0"/>
            </a:endParaRPr>
          </a:p>
        </p:txBody>
      </p:sp>
      <p:sp>
        <p:nvSpPr>
          <p:cNvPr id="20" name="TextBox 19"/>
          <p:cNvSpPr txBox="1"/>
          <p:nvPr/>
        </p:nvSpPr>
        <p:spPr>
          <a:xfrm>
            <a:off x="7533107" y="4179064"/>
            <a:ext cx="4079963" cy="1446550"/>
          </a:xfrm>
          <a:prstGeom prst="rect">
            <a:avLst/>
          </a:prstGeom>
          <a:noFill/>
        </p:spPr>
        <p:txBody>
          <a:bodyPr wrap="none" rtlCol="0">
            <a:spAutoFit/>
          </a:bodyPr>
          <a:lstStyle/>
          <a:p>
            <a:pPr algn="ctr"/>
            <a:r>
              <a:rPr lang="en-US" sz="2200" dirty="0">
                <a:latin typeface="Times New Roman" pitchFamily="18" charset="0"/>
                <a:cs typeface="Times New Roman" pitchFamily="18" charset="0"/>
              </a:rPr>
              <a:t>Under the Guidance:</a:t>
            </a:r>
          </a:p>
          <a:p>
            <a:pPr algn="ctr"/>
            <a:r>
              <a:rPr lang="en-US" sz="2200" dirty="0" err="1">
                <a:latin typeface="Times New Roman" pitchFamily="18" charset="0"/>
                <a:cs typeface="Times New Roman" pitchFamily="18" charset="0"/>
              </a:rPr>
              <a:t>Prof.Madhu</a:t>
            </a:r>
            <a:r>
              <a:rPr lang="en-US" sz="2200" dirty="0">
                <a:latin typeface="Times New Roman" pitchFamily="18" charset="0"/>
                <a:cs typeface="Times New Roman" pitchFamily="18" charset="0"/>
              </a:rPr>
              <a:t> Nagraj</a:t>
            </a:r>
          </a:p>
          <a:p>
            <a:pPr algn="ctr"/>
            <a:r>
              <a:rPr lang="en-US" sz="2200" dirty="0">
                <a:latin typeface="Times New Roman" pitchFamily="18" charset="0"/>
                <a:cs typeface="Times New Roman" pitchFamily="18" charset="0"/>
              </a:rPr>
              <a:t>Assistant Professor</a:t>
            </a:r>
          </a:p>
          <a:p>
            <a:pPr algn="ctr"/>
            <a:r>
              <a:rPr lang="en-US" sz="2200" dirty="0">
                <a:latin typeface="Times New Roman" pitchFamily="18" charset="0"/>
                <a:cs typeface="Times New Roman" pitchFamily="18" charset="0"/>
              </a:rPr>
              <a:t>Department of CSE(Data Science)</a:t>
            </a:r>
            <a:endParaRPr lang="en-IN" sz="2200"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B0EA64CA-91A5-0C42-5A35-A82E5728A2D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47322"/>
            <a:ext cx="3313043" cy="1117836"/>
          </a:xfrm>
          <a:prstGeom prst="rect">
            <a:avLst/>
          </a:prstGeom>
        </p:spPr>
      </p:pic>
    </p:spTree>
    <p:extLst>
      <p:ext uri="{BB962C8B-B14F-4D97-AF65-F5344CB8AC3E}">
        <p14:creationId xmlns:p14="http://schemas.microsoft.com/office/powerpoint/2010/main" val="4010012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2</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806539" y="199640"/>
            <a:ext cx="950345" cy="781050"/>
          </a:xfrm>
          <a:prstGeom prst="rect">
            <a:avLst/>
          </a:prstGeom>
        </p:spPr>
      </p:pic>
      <p:sp>
        <p:nvSpPr>
          <p:cNvPr id="15" name="TextBox 14"/>
          <p:cNvSpPr txBox="1"/>
          <p:nvPr/>
        </p:nvSpPr>
        <p:spPr>
          <a:xfrm>
            <a:off x="1565676" y="199640"/>
            <a:ext cx="7943374" cy="584775"/>
          </a:xfrm>
          <a:prstGeom prst="rect">
            <a:avLst/>
          </a:prstGeom>
          <a:noFill/>
        </p:spPr>
        <p:txBody>
          <a:bodyPr wrap="square" rtlCol="0">
            <a:spAutoFit/>
          </a:bodyPr>
          <a:lstStyle/>
          <a:p>
            <a:pPr algn="ctr"/>
            <a:r>
              <a:rPr lang="en-US" sz="3200" b="1" dirty="0">
                <a:solidFill>
                  <a:schemeClr val="tx2"/>
                </a:solidFill>
                <a:latin typeface="Times New Roman" pitchFamily="18" charset="0"/>
                <a:cs typeface="Times New Roman" pitchFamily="18" charset="0"/>
              </a:rPr>
              <a:t>    Content</a:t>
            </a:r>
          </a:p>
        </p:txBody>
      </p:sp>
      <p:sp>
        <p:nvSpPr>
          <p:cNvPr id="2" name="Rectangle 1"/>
          <p:cNvSpPr/>
          <p:nvPr/>
        </p:nvSpPr>
        <p:spPr>
          <a:xfrm>
            <a:off x="714520" y="1004343"/>
            <a:ext cx="7500597" cy="5444054"/>
          </a:xfrm>
          <a:prstGeom prst="rect">
            <a:avLst/>
          </a:prstGeom>
        </p:spPr>
        <p:txBody>
          <a:bodyPr wrap="square">
            <a:spAutoFit/>
          </a:bodyPr>
          <a:lstStyle/>
          <a:p>
            <a:pPr algn="just">
              <a:lnSpc>
                <a:spcPct val="150000"/>
              </a:lnSpc>
            </a:pPr>
            <a:r>
              <a:rPr lang="en-US" b="1" dirty="0">
                <a:latin typeface="Times New Roman" pitchFamily="18" charset="0"/>
                <a:cs typeface="Times New Roman" pitchFamily="18" charset="0"/>
              </a:rPr>
              <a:t>1.Introduction</a:t>
            </a:r>
          </a:p>
          <a:p>
            <a:pPr algn="just">
              <a:lnSpc>
                <a:spcPct val="150000"/>
              </a:lnSpc>
            </a:pPr>
            <a:r>
              <a:rPr lang="en-US" b="1" dirty="0">
                <a:latin typeface="Times New Roman" pitchFamily="18" charset="0"/>
                <a:cs typeface="Times New Roman" pitchFamily="18" charset="0"/>
              </a:rPr>
              <a:t>2.Motivation</a:t>
            </a:r>
          </a:p>
          <a:p>
            <a:pPr algn="just">
              <a:lnSpc>
                <a:spcPct val="150000"/>
              </a:lnSpc>
            </a:pPr>
            <a:r>
              <a:rPr lang="en-US" b="1" dirty="0">
                <a:latin typeface="Times New Roman" pitchFamily="18" charset="0"/>
                <a:cs typeface="Times New Roman" pitchFamily="18" charset="0"/>
              </a:rPr>
              <a:t>3.Literature survey </a:t>
            </a:r>
          </a:p>
          <a:p>
            <a:pPr algn="just">
              <a:lnSpc>
                <a:spcPct val="150000"/>
              </a:lnSpc>
              <a:defRPr/>
            </a:pPr>
            <a:r>
              <a:rPr lang="en-US" b="1" dirty="0">
                <a:latin typeface="Times New Roman" pitchFamily="18" charset="0"/>
                <a:cs typeface="Times New Roman" pitchFamily="18" charset="0"/>
              </a:rPr>
              <a:t>4. Outcome of Literature survey</a:t>
            </a:r>
          </a:p>
          <a:p>
            <a:pPr algn="just">
              <a:lnSpc>
                <a:spcPct val="150000"/>
              </a:lnSpc>
              <a:defRPr/>
            </a:pPr>
            <a:r>
              <a:rPr lang="en-US" b="1" dirty="0">
                <a:latin typeface="Times New Roman" pitchFamily="18" charset="0"/>
                <a:cs typeface="Times New Roman" pitchFamily="18" charset="0"/>
              </a:rPr>
              <a:t>5. Problem Statement</a:t>
            </a:r>
          </a:p>
          <a:p>
            <a:pPr algn="just">
              <a:lnSpc>
                <a:spcPct val="150000"/>
              </a:lnSpc>
              <a:defRPr/>
            </a:pPr>
            <a:r>
              <a:rPr lang="en-US" b="1" dirty="0">
                <a:latin typeface="Times New Roman" pitchFamily="18" charset="0"/>
                <a:cs typeface="Times New Roman" pitchFamily="18" charset="0"/>
              </a:rPr>
              <a:t>6. Hardware and Software requirements</a:t>
            </a:r>
            <a:r>
              <a:rPr lang="en-US" dirty="0">
                <a:latin typeface="Times New Roman" pitchFamily="18" charset="0"/>
                <a:cs typeface="Times New Roman" pitchFamily="18" charset="0"/>
              </a:rPr>
              <a:t> </a:t>
            </a:r>
          </a:p>
          <a:p>
            <a:pPr algn="just">
              <a:lnSpc>
                <a:spcPct val="150000"/>
              </a:lnSpc>
              <a:defRPr/>
            </a:pPr>
            <a:r>
              <a:rPr lang="en-US" b="1" dirty="0">
                <a:latin typeface="Times New Roman" pitchFamily="18" charset="0"/>
                <a:cs typeface="Times New Roman" pitchFamily="18" charset="0"/>
              </a:rPr>
              <a:t>7. System Analysis and Design</a:t>
            </a:r>
            <a:endParaRPr lang="en-US" dirty="0">
              <a:latin typeface="Times New Roman" pitchFamily="18" charset="0"/>
              <a:cs typeface="Times New Roman" pitchFamily="18" charset="0"/>
            </a:endParaRPr>
          </a:p>
          <a:p>
            <a:pPr algn="just">
              <a:lnSpc>
                <a:spcPct val="150000"/>
              </a:lnSpc>
              <a:defRPr/>
            </a:pPr>
            <a:r>
              <a:rPr lang="en-US" b="1" dirty="0">
                <a:latin typeface="Times New Roman" pitchFamily="18" charset="0"/>
                <a:cs typeface="Times New Roman" pitchFamily="18" charset="0"/>
              </a:rPr>
              <a:t>8. Methodology and Implementation of the Project</a:t>
            </a:r>
          </a:p>
          <a:p>
            <a:pPr algn="just">
              <a:lnSpc>
                <a:spcPct val="150000"/>
              </a:lnSpc>
              <a:defRPr/>
            </a:pPr>
            <a:r>
              <a:rPr lang="en-US" b="1" dirty="0">
                <a:latin typeface="Times New Roman" pitchFamily="18" charset="0"/>
                <a:cs typeface="Times New Roman" pitchFamily="18" charset="0"/>
              </a:rPr>
              <a:t>9. Testing  </a:t>
            </a:r>
            <a:r>
              <a:rPr lang="en-US" dirty="0">
                <a:latin typeface="Times New Roman" pitchFamily="18" charset="0"/>
                <a:cs typeface="Times New Roman" pitchFamily="18" charset="0"/>
              </a:rPr>
              <a:t> </a:t>
            </a:r>
          </a:p>
          <a:p>
            <a:pPr algn="just">
              <a:lnSpc>
                <a:spcPct val="150000"/>
              </a:lnSpc>
              <a:defRPr/>
            </a:pPr>
            <a:r>
              <a:rPr lang="en-US" b="1" dirty="0">
                <a:latin typeface="Times New Roman" pitchFamily="18" charset="0"/>
                <a:cs typeface="Times New Roman" pitchFamily="18" charset="0"/>
              </a:rPr>
              <a:t>10. Discussion of Results[Project Demo]</a:t>
            </a:r>
            <a:r>
              <a:rPr lang="en-US" dirty="0">
                <a:latin typeface="Times New Roman" pitchFamily="18" charset="0"/>
                <a:cs typeface="Times New Roman" pitchFamily="18" charset="0"/>
              </a:rPr>
              <a:t> </a:t>
            </a:r>
          </a:p>
          <a:p>
            <a:pPr algn="just">
              <a:lnSpc>
                <a:spcPct val="150000"/>
              </a:lnSpc>
              <a:defRPr/>
            </a:pPr>
            <a:r>
              <a:rPr lang="en-US" b="1" dirty="0">
                <a:latin typeface="Times New Roman" pitchFamily="18" charset="0"/>
                <a:cs typeface="Times New Roman" pitchFamily="18" charset="0"/>
              </a:rPr>
              <a:t>11. Conclusion</a:t>
            </a:r>
          </a:p>
          <a:p>
            <a:pPr algn="just">
              <a:lnSpc>
                <a:spcPct val="150000"/>
              </a:lnSpc>
              <a:defRPr/>
            </a:pPr>
            <a:r>
              <a:rPr lang="en-US" b="1" dirty="0">
                <a:latin typeface="Times New Roman" pitchFamily="18" charset="0"/>
                <a:cs typeface="Times New Roman" pitchFamily="18" charset="0"/>
              </a:rPr>
              <a:t>12. Future Scope</a:t>
            </a:r>
          </a:p>
          <a:p>
            <a:pPr algn="just">
              <a:lnSpc>
                <a:spcPct val="150000"/>
              </a:lnSpc>
              <a:defRPr/>
            </a:pPr>
            <a:r>
              <a:rPr lang="en-US" b="1" dirty="0">
                <a:latin typeface="Times New Roman" pitchFamily="18" charset="0"/>
                <a:cs typeface="Times New Roman" pitchFamily="18" charset="0"/>
              </a:rPr>
              <a:t>13. Reference</a:t>
            </a:r>
            <a:endParaRPr lang="en-US"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67E8B635-9439-7FFD-9441-0E5D5B70C56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18322"/>
            <a:ext cx="3603009" cy="1117836"/>
          </a:xfrm>
          <a:prstGeom prst="rect">
            <a:avLst/>
          </a:prstGeom>
        </p:spPr>
      </p:pic>
    </p:spTree>
    <p:extLst>
      <p:ext uri="{BB962C8B-B14F-4D97-AF65-F5344CB8AC3E}">
        <p14:creationId xmlns:p14="http://schemas.microsoft.com/office/powerpoint/2010/main" val="292970253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3</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186715"/>
            <a:ext cx="879597" cy="722905"/>
          </a:xfrm>
          <a:prstGeom prst="rect">
            <a:avLst/>
          </a:prstGeom>
        </p:spPr>
      </p:pic>
      <p:pic>
        <p:nvPicPr>
          <p:cNvPr id="2" name="Picture 1">
            <a:extLst>
              <a:ext uri="{FF2B5EF4-FFF2-40B4-BE49-F238E27FC236}">
                <a16:creationId xmlns:a16="http://schemas.microsoft.com/office/drawing/2014/main" id="{2F0AD669-1F93-D46D-8E38-B4809C9EA3A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50502"/>
            <a:ext cx="3603009" cy="1117836"/>
          </a:xfrm>
          <a:prstGeom prst="rect">
            <a:avLst/>
          </a:prstGeom>
        </p:spPr>
      </p:pic>
      <p:sp>
        <p:nvSpPr>
          <p:cNvPr id="3" name="TextBox 2">
            <a:extLst>
              <a:ext uri="{FF2B5EF4-FFF2-40B4-BE49-F238E27FC236}">
                <a16:creationId xmlns:a16="http://schemas.microsoft.com/office/drawing/2014/main" id="{7AF8F95C-9A12-4CB1-B89A-1B2000D55A70}"/>
              </a:ext>
            </a:extLst>
          </p:cNvPr>
          <p:cNvSpPr txBox="1"/>
          <p:nvPr/>
        </p:nvSpPr>
        <p:spPr>
          <a:xfrm>
            <a:off x="119269" y="967765"/>
            <a:ext cx="11953462" cy="794063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With the rapid growth of machine learning (ML) applications, </a:t>
            </a:r>
            <a:r>
              <a:rPr lang="en-US" sz="2000" b="1" dirty="0">
                <a:latin typeface="Times New Roman" panose="02020603050405020304" pitchFamily="18" charset="0"/>
                <a:cs typeface="Times New Roman" panose="02020603050405020304" pitchFamily="18" charset="0"/>
              </a:rPr>
              <a:t>data privacy</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trust</a:t>
            </a:r>
            <a:r>
              <a:rPr lang="en-US" sz="2000" dirty="0">
                <a:latin typeface="Times New Roman" panose="02020603050405020304" pitchFamily="18" charset="0"/>
                <a:cs typeface="Times New Roman" panose="02020603050405020304" pitchFamily="18" charset="0"/>
              </a:rPr>
              <a:t> have become major concerns.</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Traditional ML systems require centralized data collection, which risks privacy breaches and regulatory violations.</a:t>
            </a:r>
          </a:p>
          <a:p>
            <a:pPr marL="342900" indent="-342900" algn="just">
              <a:lnSpc>
                <a:spcPct val="150000"/>
              </a:lnSpc>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Federated Learning (FL)</a:t>
            </a:r>
            <a:r>
              <a:rPr lang="en-US" sz="2000" dirty="0">
                <a:latin typeface="Times New Roman" panose="02020603050405020304" pitchFamily="18" charset="0"/>
                <a:cs typeface="Times New Roman" panose="02020603050405020304" pitchFamily="18" charset="0"/>
              </a:rPr>
              <a:t> allows multiple distributed clients (e.g., devices or organizations) to collaboratively train a model without sharing raw data</a:t>
            </a:r>
            <a:endParaRPr lang="en-US" sz="2000" dirty="0">
              <a:effectLst/>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r>
              <a:rPr lang="en-US" sz="2000" dirty="0">
                <a:effectLst/>
                <a:latin typeface="Times New Roman" panose="02020603050405020304" pitchFamily="18" charset="0"/>
                <a:cs typeface="Times New Roman" panose="02020603050405020304" pitchFamily="18" charset="0"/>
              </a:rPr>
              <a:t>Develop a system that can accept data from multiple distributed clients and provide a fair for collaborative machine learning model training.</a:t>
            </a:r>
          </a:p>
          <a:p>
            <a:pPr marL="342900" indent="-342900" algn="just">
              <a:lnSpc>
                <a:spcPct val="150000"/>
              </a:lnSpc>
              <a:buFont typeface="Wingdings" panose="05000000000000000000" pitchFamily="2" charset="2"/>
              <a:buChar char="v"/>
            </a:pPr>
            <a:r>
              <a:rPr lang="en-US" sz="2000" dirty="0">
                <a:effectLst/>
                <a:latin typeface="Times New Roman" panose="02020603050405020304" pitchFamily="18" charset="0"/>
                <a:cs typeface="Times New Roman" panose="02020603050405020304" pitchFamily="18" charset="0"/>
              </a:rPr>
              <a:t> Data of a certain industry stake holders are bound to regulatory </a:t>
            </a:r>
            <a:r>
              <a:rPr lang="en-US" sz="2000" dirty="0" err="1">
                <a:effectLst/>
                <a:latin typeface="Times New Roman" panose="02020603050405020304" pitchFamily="18" charset="0"/>
                <a:cs typeface="Times New Roman" panose="02020603050405020304" pitchFamily="18" charset="0"/>
              </a:rPr>
              <a:t>compliants</a:t>
            </a:r>
            <a:r>
              <a:rPr lang="en-US" sz="2000" dirty="0">
                <a:effectLst/>
                <a:latin typeface="Times New Roman" panose="02020603050405020304" pitchFamily="18" charset="0"/>
                <a:cs typeface="Times New Roman" panose="02020603050405020304" pitchFamily="18" charset="0"/>
              </a:rPr>
              <a:t> like HIPAA, PDBA.</a:t>
            </a:r>
          </a:p>
          <a:p>
            <a:pPr marL="342900" indent="-342900" algn="just">
              <a:lnSpc>
                <a:spcPct val="150000"/>
              </a:lnSpc>
              <a:buFont typeface="Wingdings" panose="05000000000000000000" pitchFamily="2" charset="2"/>
              <a:buChar char="v"/>
            </a:pPr>
            <a:r>
              <a:rPr lang="en-US" sz="2000" dirty="0">
                <a:effectLst/>
                <a:latin typeface="Times New Roman" panose="02020603050405020304" pitchFamily="18" charset="0"/>
                <a:cs typeface="Times New Roman" panose="02020603050405020304" pitchFamily="18" charset="0"/>
              </a:rPr>
              <a:t>These data hold valuable insights which could be used with federated learning</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r>
              <a:rPr lang="en-US" sz="2000" dirty="0">
                <a:effectLst/>
                <a:latin typeface="Times New Roman" panose="02020603050405020304" pitchFamily="18" charset="0"/>
                <a:cs typeface="Times New Roman" panose="02020603050405020304" pitchFamily="18" charset="0"/>
              </a:rPr>
              <a:t>Federated results could be accessed based on something like “all party consent” or technically “Decentralized coordination” .</a:t>
            </a:r>
          </a:p>
          <a:p>
            <a:pPr marL="342900" indent="-342900" algn="just">
              <a:lnSpc>
                <a:spcPct val="150000"/>
              </a:lnSpc>
              <a:buFont typeface="Wingdings" panose="05000000000000000000" pitchFamily="2" charset="2"/>
              <a:buChar char="v"/>
            </a:pPr>
            <a:endParaRPr lang="en-US" sz="2000" dirty="0">
              <a:effectLst/>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endParaRPr lang="en-US" sz="2000" dirty="0">
              <a:effectLst/>
              <a:latin typeface="Times New Roman" panose="02020603050405020304" pitchFamily="18" charset="0"/>
              <a:cs typeface="Times New Roman" panose="02020603050405020304" pitchFamily="18" charset="0"/>
            </a:endParaRPr>
          </a:p>
          <a:p>
            <a:pPr algn="just">
              <a:lnSpc>
                <a:spcPct val="150000"/>
              </a:lnSpc>
            </a:pPr>
            <a:br>
              <a:rPr lang="en-US" sz="2000" dirty="0">
                <a:effectLst/>
                <a:latin typeface="Times New Roman" panose="02020603050405020304" pitchFamily="18" charset="0"/>
                <a:cs typeface="Times New Roman" panose="02020603050405020304" pitchFamily="18" charset="0"/>
              </a:rPr>
            </a:br>
            <a:r>
              <a:rPr lang="en-US" sz="2400" dirty="0">
                <a:effectLst/>
              </a:rPr>
              <a:t> </a:t>
            </a:r>
            <a:endParaRPr lang="en-US" sz="24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9EA39D9-0285-4478-81A5-578E295F2330}"/>
              </a:ext>
            </a:extLst>
          </p:cNvPr>
          <p:cNvSpPr txBox="1"/>
          <p:nvPr/>
        </p:nvSpPr>
        <p:spPr>
          <a:xfrm>
            <a:off x="4426226" y="380400"/>
            <a:ext cx="3057247" cy="800219"/>
          </a:xfrm>
          <a:prstGeom prst="rect">
            <a:avLst/>
          </a:prstGeom>
          <a:noFill/>
        </p:spPr>
        <p:txBody>
          <a:bodyPr wrap="none" rtlCol="0">
            <a:spAutoFit/>
          </a:bodyPr>
          <a:lstStyle/>
          <a:p>
            <a:r>
              <a:rPr lang="en-US" sz="2800" b="1" dirty="0">
                <a:solidFill>
                  <a:schemeClr val="tx2"/>
                </a:solidFill>
                <a:latin typeface="Times New Roman" panose="02020603050405020304" pitchFamily="18" charset="0"/>
                <a:cs typeface="Times New Roman" panose="02020603050405020304" pitchFamily="18" charset="0"/>
              </a:rPr>
              <a:t>INTRODUCTION</a:t>
            </a:r>
          </a:p>
          <a:p>
            <a:endParaRPr lang="en-IN" dirty="0"/>
          </a:p>
        </p:txBody>
      </p:sp>
    </p:spTree>
    <p:extLst>
      <p:ext uri="{BB962C8B-B14F-4D97-AF65-F5344CB8AC3E}">
        <p14:creationId xmlns:p14="http://schemas.microsoft.com/office/powerpoint/2010/main" val="307769008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D4860-E31D-CEAF-5736-859DABAC1B23}"/>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F3AC897D-5629-1946-65B5-11E43ADD975A}"/>
              </a:ext>
            </a:extLst>
          </p:cNvPr>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4</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F3E4652-1DA9-2A85-4CED-F30886D89F0C}"/>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70FAA570-42D8-13B5-A440-77AF9132121C}"/>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a:extLst>
              <a:ext uri="{FF2B5EF4-FFF2-40B4-BE49-F238E27FC236}">
                <a16:creationId xmlns:a16="http://schemas.microsoft.com/office/drawing/2014/main" id="{56B4BA60-BECB-4BAB-264A-600F4DBDA98F}"/>
              </a:ext>
            </a:extLst>
          </p:cNvPr>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7C3EE7A8-0740-343F-5D8F-3C95A94C05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0027B37F-C2AF-8552-00CF-95019FB138E3}"/>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C3E134F7-F647-DF92-56ED-AB6C24CC49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A5F355E8-48EC-CACF-F2C1-0BF12A8E65E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B003774-695F-F9B7-FDAE-F112D7ADBAA1}"/>
              </a:ext>
            </a:extLst>
          </p:cNvPr>
          <p:cNvPicPr>
            <a:picLocks noChangeAspect="1"/>
          </p:cNvPicPr>
          <p:nvPr/>
        </p:nvPicPr>
        <p:blipFill>
          <a:blip r:embed="rId5"/>
          <a:stretch>
            <a:fillRect/>
          </a:stretch>
        </p:blipFill>
        <p:spPr>
          <a:xfrm>
            <a:off x="10902152" y="244860"/>
            <a:ext cx="879597" cy="722905"/>
          </a:xfrm>
          <a:prstGeom prst="rect">
            <a:avLst/>
          </a:prstGeom>
        </p:spPr>
      </p:pic>
      <p:pic>
        <p:nvPicPr>
          <p:cNvPr id="2" name="Picture 1">
            <a:extLst>
              <a:ext uri="{FF2B5EF4-FFF2-40B4-BE49-F238E27FC236}">
                <a16:creationId xmlns:a16="http://schemas.microsoft.com/office/drawing/2014/main" id="{DA5C23DD-CCAD-B913-C9E8-8933090B5BC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3603009" cy="1117836"/>
          </a:xfrm>
          <a:prstGeom prst="rect">
            <a:avLst/>
          </a:prstGeom>
        </p:spPr>
      </p:pic>
      <p:sp>
        <p:nvSpPr>
          <p:cNvPr id="3" name="TextBox 2">
            <a:extLst>
              <a:ext uri="{FF2B5EF4-FFF2-40B4-BE49-F238E27FC236}">
                <a16:creationId xmlns:a16="http://schemas.microsoft.com/office/drawing/2014/main" id="{B8F493BC-73E8-4621-97EC-5D68D45BE919}"/>
              </a:ext>
            </a:extLst>
          </p:cNvPr>
          <p:cNvSpPr txBox="1"/>
          <p:nvPr/>
        </p:nvSpPr>
        <p:spPr>
          <a:xfrm>
            <a:off x="143326" y="1126076"/>
            <a:ext cx="11638423" cy="424731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Only </a:t>
            </a:r>
            <a:r>
              <a:rPr lang="en-US" sz="2000" b="1" dirty="0">
                <a:latin typeface="Times New Roman" panose="02020603050405020304" pitchFamily="18" charset="0"/>
                <a:cs typeface="Times New Roman" panose="02020603050405020304" pitchFamily="18" charset="0"/>
              </a:rPr>
              <a:t>model updates</a:t>
            </a:r>
            <a:r>
              <a:rPr lang="en-US" sz="2000" dirty="0">
                <a:latin typeface="Times New Roman" panose="02020603050405020304" pitchFamily="18" charset="0"/>
                <a:cs typeface="Times New Roman" panose="02020603050405020304" pitchFamily="18" charset="0"/>
              </a:rPr>
              <a:t> (gradients or parameters) are exchanged with the server, thus minimizing the risk of exposing sensitive data.</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This makes FL highly suitable for privacy-sensitive applications such as medical diagnosis, financial prediction, and personalized services</a:t>
            </a:r>
            <a:r>
              <a:rPr lang="en-US" sz="2400" dirty="0"/>
              <a:t>.</a:t>
            </a:r>
          </a:p>
          <a:p>
            <a:endParaRPr lang="en-IN" sz="2400" dirty="0">
              <a:latin typeface="Times New Roman" panose="02020603050405020304" pitchFamily="18" charset="0"/>
              <a:cs typeface="Times New Roman" panose="02020603050405020304" pitchFamily="18" charset="0"/>
            </a:endParaRPr>
          </a:p>
          <a:p>
            <a:pPr algn="just"/>
            <a:r>
              <a:rPr lang="en-IN" sz="2400" dirty="0">
                <a:effectLst/>
                <a:latin typeface="Times New Roman" panose="02020603050405020304" pitchFamily="18" charset="0"/>
                <a:cs typeface="Times New Roman" panose="02020603050405020304" pitchFamily="18" charset="0"/>
              </a:rPr>
              <a:t>Standard formula for Federated Learning</a:t>
            </a:r>
          </a:p>
          <a:p>
            <a:endParaRPr lang="en-IN" sz="2400" dirty="0">
              <a:effectLst/>
              <a:latin typeface="Times New Roman" panose="02020603050405020304" pitchFamily="18" charset="0"/>
              <a:cs typeface="Times New Roman" panose="02020603050405020304" pitchFamily="18" charset="0"/>
            </a:endParaRPr>
          </a:p>
          <a:p>
            <a:endParaRPr lang="en-IN" sz="2400" dirty="0">
              <a:effectLst/>
              <a:latin typeface="Times New Roman" panose="02020603050405020304" pitchFamily="18" charset="0"/>
              <a:cs typeface="Times New Roman" panose="02020603050405020304" pitchFamily="18" charset="0"/>
            </a:endParaRPr>
          </a:p>
          <a:p>
            <a:endParaRPr lang="en-IN" sz="2400" dirty="0">
              <a:effectLst/>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AA350E12-3EF7-4B7A-BFEE-7372E1863A5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7" name="Rectangle 4">
            <a:extLst>
              <a:ext uri="{FF2B5EF4-FFF2-40B4-BE49-F238E27FC236}">
                <a16:creationId xmlns:a16="http://schemas.microsoft.com/office/drawing/2014/main" id="{7C2826E5-28AF-46B8-96AE-E193AA755BD6}"/>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20" name="Picture 19">
            <a:extLst>
              <a:ext uri="{FF2B5EF4-FFF2-40B4-BE49-F238E27FC236}">
                <a16:creationId xmlns:a16="http://schemas.microsoft.com/office/drawing/2014/main" id="{815EB2CE-32A2-4EB6-818E-1B5113E4611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5779" y="4343526"/>
            <a:ext cx="4393656" cy="1294247"/>
          </a:xfrm>
          <a:prstGeom prst="rect">
            <a:avLst/>
          </a:prstGeom>
        </p:spPr>
      </p:pic>
      <p:pic>
        <p:nvPicPr>
          <p:cNvPr id="22" name="Picture 21">
            <a:extLst>
              <a:ext uri="{FF2B5EF4-FFF2-40B4-BE49-F238E27FC236}">
                <a16:creationId xmlns:a16="http://schemas.microsoft.com/office/drawing/2014/main" id="{C92DDD7B-6E84-44AB-AF41-8DB7F447DDA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62537" y="4187687"/>
            <a:ext cx="5393684" cy="2103348"/>
          </a:xfrm>
          <a:prstGeom prst="rect">
            <a:avLst/>
          </a:prstGeom>
        </p:spPr>
      </p:pic>
      <p:sp>
        <p:nvSpPr>
          <p:cNvPr id="23" name="TextBox 22">
            <a:extLst>
              <a:ext uri="{FF2B5EF4-FFF2-40B4-BE49-F238E27FC236}">
                <a16:creationId xmlns:a16="http://schemas.microsoft.com/office/drawing/2014/main" id="{E9606925-B681-4EA8-89C9-88B8F154C528}"/>
              </a:ext>
            </a:extLst>
          </p:cNvPr>
          <p:cNvSpPr txBox="1"/>
          <p:nvPr/>
        </p:nvSpPr>
        <p:spPr>
          <a:xfrm>
            <a:off x="-55229" y="4805984"/>
            <a:ext cx="11136707"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426812684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5</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37384"/>
            <a:ext cx="879597" cy="722905"/>
          </a:xfrm>
          <a:prstGeom prst="rect">
            <a:avLst/>
          </a:prstGeom>
        </p:spPr>
      </p:pic>
      <p:pic>
        <p:nvPicPr>
          <p:cNvPr id="2" name="Picture 1">
            <a:extLst>
              <a:ext uri="{FF2B5EF4-FFF2-40B4-BE49-F238E27FC236}">
                <a16:creationId xmlns:a16="http://schemas.microsoft.com/office/drawing/2014/main" id="{A63B1A8C-181D-C152-2A54-4F41AEA1439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3603009" cy="1117836"/>
          </a:xfrm>
          <a:prstGeom prst="rect">
            <a:avLst/>
          </a:prstGeom>
        </p:spPr>
      </p:pic>
      <p:sp>
        <p:nvSpPr>
          <p:cNvPr id="3" name="TextBox 2">
            <a:extLst>
              <a:ext uri="{FF2B5EF4-FFF2-40B4-BE49-F238E27FC236}">
                <a16:creationId xmlns:a16="http://schemas.microsoft.com/office/drawing/2014/main" id="{53638EDB-1C35-4155-B39F-68AD6509182D}"/>
              </a:ext>
            </a:extLst>
          </p:cNvPr>
          <p:cNvSpPr txBox="1"/>
          <p:nvPr/>
        </p:nvSpPr>
        <p:spPr>
          <a:xfrm>
            <a:off x="4199290" y="317617"/>
            <a:ext cx="2543453" cy="800219"/>
          </a:xfrm>
          <a:prstGeom prst="rect">
            <a:avLst/>
          </a:prstGeom>
          <a:noFill/>
        </p:spPr>
        <p:txBody>
          <a:bodyPr wrap="none" rtlCol="0">
            <a:spAutoFit/>
          </a:bodyPr>
          <a:lstStyle/>
          <a:p>
            <a:r>
              <a:rPr lang="en-US" sz="2800" b="1" dirty="0">
                <a:solidFill>
                  <a:schemeClr val="tx2"/>
                </a:solidFill>
                <a:latin typeface="Times New Roman" pitchFamily="18" charset="0"/>
                <a:cs typeface="Times New Roman" pitchFamily="18" charset="0"/>
              </a:rPr>
              <a:t>MOTIVATION</a:t>
            </a:r>
          </a:p>
          <a:p>
            <a:endParaRPr lang="en-IN" dirty="0"/>
          </a:p>
        </p:txBody>
      </p:sp>
      <p:sp>
        <p:nvSpPr>
          <p:cNvPr id="7" name="TextBox 6">
            <a:extLst>
              <a:ext uri="{FF2B5EF4-FFF2-40B4-BE49-F238E27FC236}">
                <a16:creationId xmlns:a16="http://schemas.microsoft.com/office/drawing/2014/main" id="{9A37A3BF-62FB-4457-BF48-50F52C001E65}"/>
              </a:ext>
            </a:extLst>
          </p:cNvPr>
          <p:cNvSpPr txBox="1"/>
          <p:nvPr/>
        </p:nvSpPr>
        <p:spPr>
          <a:xfrm>
            <a:off x="175460" y="936682"/>
            <a:ext cx="11371498" cy="557697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increasing dependence on machine learning and artificial intelligence in modern digital ecosystems has made </a:t>
            </a:r>
            <a:r>
              <a:rPr lang="en-US" sz="2000" b="1" dirty="0">
                <a:latin typeface="Times New Roman" panose="02020603050405020304" pitchFamily="18" charset="0"/>
                <a:cs typeface="Times New Roman" panose="02020603050405020304" pitchFamily="18" charset="0"/>
              </a:rPr>
              <a:t>data the most valuable resource</a:t>
            </a:r>
            <a:r>
              <a:rPr lang="en-US" sz="2000" dirty="0">
                <a:latin typeface="Times New Roman" panose="02020603050405020304" pitchFamily="18" charset="0"/>
                <a:cs typeface="Times New Roman" panose="02020603050405020304" pitchFamily="18" charset="0"/>
              </a:rPr>
              <a:t> of the 21st century. From healthcare and finance to smart devices and social media, vast amounts of sensitive information are continuously collected and processed to train intelligent systems. However, this data-driven progress has also brought forth serious concerns related to </a:t>
            </a:r>
            <a:r>
              <a:rPr lang="en-US" sz="2000" b="1" dirty="0">
                <a:latin typeface="Times New Roman" panose="02020603050405020304" pitchFamily="18" charset="0"/>
                <a:cs typeface="Times New Roman" panose="02020603050405020304" pitchFamily="18" charset="0"/>
              </a:rPr>
              <a:t>data privacy, ownership, and trust</a:t>
            </a:r>
            <a:r>
              <a:rPr lang="en-US" sz="2000" dirty="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 traditional centralized learning frameworks, organizations must gather all user data in a single location for model training. This approach, while computationally efficient, exposes data to multiple vulnerabilities  including </a:t>
            </a:r>
            <a:r>
              <a:rPr lang="en-US" sz="2000" b="1" dirty="0">
                <a:latin typeface="Times New Roman" panose="02020603050405020304" pitchFamily="18" charset="0"/>
                <a:cs typeface="Times New Roman" panose="02020603050405020304" pitchFamily="18" charset="0"/>
              </a:rPr>
              <a:t>data breaches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unauthorized access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misuse of personal information</a:t>
            </a:r>
            <a:r>
              <a:rPr lang="en-US" sz="2000" dirty="0">
                <a:latin typeface="Times New Roman" panose="02020603050405020304" pitchFamily="18" charset="0"/>
                <a:cs typeface="Times New Roman" panose="02020603050405020304" pitchFamily="18" charset="0"/>
              </a:rPr>
              <a:t>. </a:t>
            </a:r>
          </a:p>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Federated Learning (FL)</a:t>
            </a:r>
            <a:r>
              <a:rPr lang="en-US" sz="2000" dirty="0">
                <a:latin typeface="Times New Roman" panose="02020603050405020304" pitchFamily="18" charset="0"/>
                <a:cs typeface="Times New Roman" panose="02020603050405020304" pitchFamily="18" charset="0"/>
              </a:rPr>
              <a:t> has emerged as a promising paradigm to address the privacy issue by enabling decentralized model training. In FL, data never leaves the client’s device only model updates are shared. This significantly reduces the risk of direct data exposure.  </a:t>
            </a: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0060948"/>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6</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61058"/>
            <a:ext cx="879597" cy="722905"/>
          </a:xfrm>
          <a:prstGeom prst="rect">
            <a:avLst/>
          </a:prstGeom>
        </p:spPr>
      </p:pic>
      <p:pic>
        <p:nvPicPr>
          <p:cNvPr id="2" name="Picture 1">
            <a:extLst>
              <a:ext uri="{FF2B5EF4-FFF2-40B4-BE49-F238E27FC236}">
                <a16:creationId xmlns:a16="http://schemas.microsoft.com/office/drawing/2014/main" id="{552177D8-53FC-C90B-E187-66383B633A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63592"/>
            <a:ext cx="3603009" cy="1117836"/>
          </a:xfrm>
          <a:prstGeom prst="rect">
            <a:avLst/>
          </a:prstGeom>
        </p:spPr>
      </p:pic>
      <p:sp>
        <p:nvSpPr>
          <p:cNvPr id="3" name="TextBox 2">
            <a:extLst>
              <a:ext uri="{FF2B5EF4-FFF2-40B4-BE49-F238E27FC236}">
                <a16:creationId xmlns:a16="http://schemas.microsoft.com/office/drawing/2014/main" id="{507597D5-19A2-4567-B963-D4F70CA4D9CB}"/>
              </a:ext>
            </a:extLst>
          </p:cNvPr>
          <p:cNvSpPr txBox="1"/>
          <p:nvPr/>
        </p:nvSpPr>
        <p:spPr>
          <a:xfrm>
            <a:off x="3853682" y="360900"/>
            <a:ext cx="4085542" cy="523220"/>
          </a:xfrm>
          <a:prstGeom prst="rect">
            <a:avLst/>
          </a:prstGeom>
          <a:noFill/>
        </p:spPr>
        <p:txBody>
          <a:bodyPr wrap="none" rtlCol="0">
            <a:spAutoFit/>
          </a:bodyPr>
          <a:lstStyle/>
          <a:p>
            <a:r>
              <a:rPr lang="en-US" sz="2800" b="1" dirty="0">
                <a:solidFill>
                  <a:schemeClr val="tx2"/>
                </a:solidFill>
                <a:latin typeface="Times New Roman" panose="02020603050405020304" pitchFamily="18" charset="0"/>
                <a:cs typeface="Times New Roman" panose="02020603050405020304" pitchFamily="18" charset="0"/>
              </a:rPr>
              <a:t>LITERATURE SURVEY</a:t>
            </a:r>
            <a:endParaRPr lang="en-IN" sz="2800" b="1" dirty="0">
              <a:solidFill>
                <a:schemeClr val="tx2"/>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38544F9-BB96-4420-97D1-8011C4674405}"/>
              </a:ext>
            </a:extLst>
          </p:cNvPr>
          <p:cNvSpPr txBox="1"/>
          <p:nvPr/>
        </p:nvSpPr>
        <p:spPr>
          <a:xfrm>
            <a:off x="463826" y="1351722"/>
            <a:ext cx="184731" cy="369332"/>
          </a:xfrm>
          <a:prstGeom prst="rect">
            <a:avLst/>
          </a:prstGeom>
          <a:noFill/>
        </p:spPr>
        <p:txBody>
          <a:bodyPr wrap="none" rtlCol="0">
            <a:spAutoFit/>
          </a:bodyPr>
          <a:lstStyle/>
          <a:p>
            <a:endParaRPr lang="en-IN" dirty="0"/>
          </a:p>
        </p:txBody>
      </p:sp>
      <p:graphicFrame>
        <p:nvGraphicFramePr>
          <p:cNvPr id="13" name="Table 16">
            <a:extLst>
              <a:ext uri="{FF2B5EF4-FFF2-40B4-BE49-F238E27FC236}">
                <a16:creationId xmlns:a16="http://schemas.microsoft.com/office/drawing/2014/main" id="{D873C610-6EB7-454B-8488-3878F320F9AE}"/>
              </a:ext>
            </a:extLst>
          </p:cNvPr>
          <p:cNvGraphicFramePr>
            <a:graphicFrameLocks noGrp="1"/>
          </p:cNvGraphicFramePr>
          <p:nvPr>
            <p:extLst>
              <p:ext uri="{D42A27DB-BD31-4B8C-83A1-F6EECF244321}">
                <p14:modId xmlns:p14="http://schemas.microsoft.com/office/powerpoint/2010/main" val="1987932071"/>
              </p:ext>
            </p:extLst>
          </p:nvPr>
        </p:nvGraphicFramePr>
        <p:xfrm>
          <a:off x="184352" y="1228585"/>
          <a:ext cx="11769448" cy="4722261"/>
        </p:xfrm>
        <a:graphic>
          <a:graphicData uri="http://schemas.openxmlformats.org/drawingml/2006/table">
            <a:tbl>
              <a:tblPr firstRow="1" bandRow="1">
                <a:tableStyleId>{5C22544A-7EE6-4342-B048-85BDC9FD1C3A}</a:tableStyleId>
              </a:tblPr>
              <a:tblGrid>
                <a:gridCol w="965853">
                  <a:extLst>
                    <a:ext uri="{9D8B030D-6E8A-4147-A177-3AD203B41FA5}">
                      <a16:colId xmlns:a16="http://schemas.microsoft.com/office/drawing/2014/main" val="2705282984"/>
                    </a:ext>
                  </a:extLst>
                </a:gridCol>
                <a:gridCol w="3498424">
                  <a:extLst>
                    <a:ext uri="{9D8B030D-6E8A-4147-A177-3AD203B41FA5}">
                      <a16:colId xmlns:a16="http://schemas.microsoft.com/office/drawing/2014/main" val="804545590"/>
                    </a:ext>
                  </a:extLst>
                </a:gridCol>
                <a:gridCol w="2097067">
                  <a:extLst>
                    <a:ext uri="{9D8B030D-6E8A-4147-A177-3AD203B41FA5}">
                      <a16:colId xmlns:a16="http://schemas.microsoft.com/office/drawing/2014/main" val="850604275"/>
                    </a:ext>
                  </a:extLst>
                </a:gridCol>
                <a:gridCol w="1126434">
                  <a:extLst>
                    <a:ext uri="{9D8B030D-6E8A-4147-A177-3AD203B41FA5}">
                      <a16:colId xmlns:a16="http://schemas.microsoft.com/office/drawing/2014/main" val="1172920551"/>
                    </a:ext>
                  </a:extLst>
                </a:gridCol>
                <a:gridCol w="4081670">
                  <a:extLst>
                    <a:ext uri="{9D8B030D-6E8A-4147-A177-3AD203B41FA5}">
                      <a16:colId xmlns:a16="http://schemas.microsoft.com/office/drawing/2014/main" val="1693971246"/>
                    </a:ext>
                  </a:extLst>
                </a:gridCol>
              </a:tblGrid>
              <a:tr h="655054">
                <a:tc>
                  <a:txBody>
                    <a:bodyPr/>
                    <a:lstStyle/>
                    <a:p>
                      <a:r>
                        <a:rPr lang="en-US" sz="2400" dirty="0">
                          <a:latin typeface="Times New Roman" panose="02020603050405020304" pitchFamily="18" charset="0"/>
                          <a:cs typeface="Times New Roman" panose="02020603050405020304" pitchFamily="18" charset="0"/>
                        </a:rPr>
                        <a:t>S.NO</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Title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Authors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Years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Summary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14310596"/>
                  </a:ext>
                </a:extLst>
              </a:tr>
              <a:tr h="2113883">
                <a:tc>
                  <a:txBody>
                    <a:bodyPr/>
                    <a:lstStyle/>
                    <a:p>
                      <a:r>
                        <a:rPr lang="en-US" dirty="0"/>
                        <a:t>01</a:t>
                      </a:r>
                      <a:endParaRPr lang="en-IN" dirty="0"/>
                    </a:p>
                  </a:txBody>
                  <a:tcPr/>
                </a:tc>
                <a:tc>
                  <a:txBody>
                    <a:bodyPr/>
                    <a:lstStyle/>
                    <a:p>
                      <a:pPr algn="l"/>
                      <a:r>
                        <a:rPr lang="en-US" sz="1800" b="0" dirty="0">
                          <a:latin typeface="Times New Roman" panose="02020603050405020304" pitchFamily="18" charset="0"/>
                          <a:cs typeface="Times New Roman" panose="02020603050405020304" pitchFamily="18" charset="0"/>
                        </a:rPr>
                        <a:t>Communication-efficient learning of deep networks from decentralized data</a:t>
                      </a:r>
                      <a:endParaRPr lang="en-IN" sz="1800" b="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H. B. McMahan et al</a:t>
                      </a:r>
                    </a:p>
                  </a:txBody>
                  <a:tcPr/>
                </a:tc>
                <a:tc>
                  <a:txBody>
                    <a:bodyPr/>
                    <a:lstStyle/>
                    <a:p>
                      <a:r>
                        <a:rPr lang="en-IN" sz="1800" dirty="0">
                          <a:latin typeface="Times New Roman" panose="02020603050405020304" pitchFamily="18" charset="0"/>
                          <a:cs typeface="Times New Roman" panose="02020603050405020304" pitchFamily="18" charset="0"/>
                        </a:rPr>
                        <a:t>2017</a:t>
                      </a:r>
                    </a:p>
                  </a:txBody>
                  <a:tcPr/>
                </a:tc>
                <a:tc>
                  <a:txBody>
                    <a:bodyPr/>
                    <a:lstStyle/>
                    <a:p>
                      <a:pPr algn="l"/>
                      <a:r>
                        <a:rPr lang="en-US" sz="1800" dirty="0">
                          <a:latin typeface="Times New Roman" panose="02020603050405020304" pitchFamily="18" charset="0"/>
                          <a:cs typeface="Times New Roman" panose="02020603050405020304" pitchFamily="18" charset="0"/>
                        </a:rPr>
                        <a:t>This seminal paper formalized practical federated learning for deep networks and introduced the </a:t>
                      </a:r>
                      <a:r>
                        <a:rPr lang="en-US" sz="1800" b="1" dirty="0" err="1">
                          <a:latin typeface="Times New Roman" panose="02020603050405020304" pitchFamily="18" charset="0"/>
                          <a:cs typeface="Times New Roman" panose="02020603050405020304" pitchFamily="18" charset="0"/>
                        </a:rPr>
                        <a:t>FederatedAveraging</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FedAvg</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approach: clients perform multiple local SGD steps and only send model updates to a central server for aggregation.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47014608"/>
                  </a:ext>
                </a:extLst>
              </a:tr>
              <a:tr h="1584065">
                <a:tc>
                  <a:txBody>
                    <a:bodyPr/>
                    <a:lstStyle/>
                    <a:p>
                      <a:r>
                        <a:rPr lang="en-US" dirty="0"/>
                        <a:t>02</a:t>
                      </a:r>
                      <a:endParaRPr lang="en-IN" dirty="0"/>
                    </a:p>
                  </a:txBody>
                  <a:tcPr/>
                </a:tc>
                <a:tc>
                  <a:txBody>
                    <a:bodyPr/>
                    <a:lstStyle/>
                    <a:p>
                      <a:r>
                        <a:rPr lang="en-US" sz="1800" b="1" dirty="0">
                          <a:latin typeface="Times New Roman" panose="02020603050405020304" pitchFamily="18" charset="0"/>
                          <a:cs typeface="Times New Roman" panose="02020603050405020304" pitchFamily="18" charset="0"/>
                        </a:rPr>
                        <a:t>Advances and open problems in federated learning</a:t>
                      </a:r>
                      <a:r>
                        <a:rPr lang="en-US" sz="1800" dirty="0">
                          <a:latin typeface="Times New Roman" panose="02020603050405020304" pitchFamily="18" charset="0"/>
                          <a:cs typeface="Times New Roman" panose="02020603050405020304" pitchFamily="18" charset="0"/>
                        </a:rPr>
                        <a:t> — </a:t>
                      </a:r>
                      <a:r>
                        <a:rPr lang="en-US" sz="1800" i="1" dirty="0">
                          <a:latin typeface="Times New Roman" panose="02020603050405020304" pitchFamily="18" charset="0"/>
                          <a:cs typeface="Times New Roman" panose="02020603050405020304" pitchFamily="18" charset="0"/>
                        </a:rPr>
                        <a:t>Foundations and Trends in Machine Learning</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P. </a:t>
                      </a:r>
                      <a:r>
                        <a:rPr lang="en-IN" sz="1800" dirty="0" err="1">
                          <a:latin typeface="Times New Roman" panose="02020603050405020304" pitchFamily="18" charset="0"/>
                          <a:cs typeface="Times New Roman" panose="02020603050405020304" pitchFamily="18" charset="0"/>
                        </a:rPr>
                        <a:t>Kairouz</a:t>
                      </a:r>
                      <a:r>
                        <a:rPr lang="en-IN" sz="1800" dirty="0">
                          <a:latin typeface="Times New Roman" panose="02020603050405020304" pitchFamily="18" charset="0"/>
                          <a:cs typeface="Times New Roman" panose="02020603050405020304" pitchFamily="18" charset="0"/>
                        </a:rPr>
                        <a:t> et al</a:t>
                      </a:r>
                    </a:p>
                  </a:txBody>
                  <a:tcPr/>
                </a:tc>
                <a:tc>
                  <a:txBody>
                    <a:bodyPr/>
                    <a:lstStyle/>
                    <a:p>
                      <a:r>
                        <a:rPr lang="en-IN" sz="1800" dirty="0">
                          <a:latin typeface="Times New Roman" panose="02020603050405020304" pitchFamily="18" charset="0"/>
                          <a:cs typeface="Times New Roman" panose="02020603050405020304" pitchFamily="18" charset="0"/>
                        </a:rPr>
                        <a:t>2019</a:t>
                      </a:r>
                    </a:p>
                  </a:txBody>
                  <a:tcPr/>
                </a:tc>
                <a:tc>
                  <a:txBody>
                    <a:bodyPr/>
                    <a:lstStyle/>
                    <a:p>
                      <a:r>
                        <a:rPr lang="en-US" sz="1800" dirty="0">
                          <a:latin typeface="Times New Roman" panose="02020603050405020304" pitchFamily="18" charset="0"/>
                          <a:cs typeface="Times New Roman" panose="02020603050405020304" pitchFamily="18" charset="0"/>
                        </a:rPr>
                        <a:t>covering system-level challenges, optimization under non-id data, privacy and security threats, and application domains. </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1969765"/>
                  </a:ext>
                </a:extLst>
              </a:tr>
              <a:tr h="369259">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494069156"/>
                  </a:ext>
                </a:extLst>
              </a:tr>
            </a:tbl>
          </a:graphicData>
        </a:graphic>
      </p:graphicFrame>
    </p:spTree>
    <p:extLst>
      <p:ext uri="{BB962C8B-B14F-4D97-AF65-F5344CB8AC3E}">
        <p14:creationId xmlns:p14="http://schemas.microsoft.com/office/powerpoint/2010/main" val="33139258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7</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61058"/>
            <a:ext cx="879597" cy="722905"/>
          </a:xfrm>
          <a:prstGeom prst="rect">
            <a:avLst/>
          </a:prstGeom>
        </p:spPr>
      </p:pic>
      <p:pic>
        <p:nvPicPr>
          <p:cNvPr id="2" name="Picture 1">
            <a:extLst>
              <a:ext uri="{FF2B5EF4-FFF2-40B4-BE49-F238E27FC236}">
                <a16:creationId xmlns:a16="http://schemas.microsoft.com/office/drawing/2014/main" id="{552177D8-53FC-C90B-E187-66383B633A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 y="-5335"/>
            <a:ext cx="3154016" cy="978536"/>
          </a:xfrm>
          <a:prstGeom prst="rect">
            <a:avLst/>
          </a:prstGeom>
        </p:spPr>
      </p:pic>
      <p:graphicFrame>
        <p:nvGraphicFramePr>
          <p:cNvPr id="13" name="Table 13">
            <a:extLst>
              <a:ext uri="{FF2B5EF4-FFF2-40B4-BE49-F238E27FC236}">
                <a16:creationId xmlns:a16="http://schemas.microsoft.com/office/drawing/2014/main" id="{1F8E67C9-C817-4D37-B207-1D399DEBB296}"/>
              </a:ext>
            </a:extLst>
          </p:cNvPr>
          <p:cNvGraphicFramePr>
            <a:graphicFrameLocks noGrp="1"/>
          </p:cNvGraphicFramePr>
          <p:nvPr>
            <p:extLst>
              <p:ext uri="{D42A27DB-BD31-4B8C-83A1-F6EECF244321}">
                <p14:modId xmlns:p14="http://schemas.microsoft.com/office/powerpoint/2010/main" val="928156484"/>
              </p:ext>
            </p:extLst>
          </p:nvPr>
        </p:nvGraphicFramePr>
        <p:xfrm>
          <a:off x="92765" y="911814"/>
          <a:ext cx="12099231" cy="5507372"/>
        </p:xfrm>
        <a:graphic>
          <a:graphicData uri="http://schemas.openxmlformats.org/drawingml/2006/table">
            <a:tbl>
              <a:tblPr firstRow="1" bandRow="1">
                <a:tableStyleId>{5C22544A-7EE6-4342-B048-85BDC9FD1C3A}</a:tableStyleId>
              </a:tblPr>
              <a:tblGrid>
                <a:gridCol w="941495">
                  <a:extLst>
                    <a:ext uri="{9D8B030D-6E8A-4147-A177-3AD203B41FA5}">
                      <a16:colId xmlns:a16="http://schemas.microsoft.com/office/drawing/2014/main" val="868044237"/>
                    </a:ext>
                  </a:extLst>
                </a:gridCol>
                <a:gridCol w="3586436">
                  <a:extLst>
                    <a:ext uri="{9D8B030D-6E8A-4147-A177-3AD203B41FA5}">
                      <a16:colId xmlns:a16="http://schemas.microsoft.com/office/drawing/2014/main" val="2642645368"/>
                    </a:ext>
                  </a:extLst>
                </a:gridCol>
                <a:gridCol w="1344076">
                  <a:extLst>
                    <a:ext uri="{9D8B030D-6E8A-4147-A177-3AD203B41FA5}">
                      <a16:colId xmlns:a16="http://schemas.microsoft.com/office/drawing/2014/main" val="3554671842"/>
                    </a:ext>
                  </a:extLst>
                </a:gridCol>
                <a:gridCol w="1302930">
                  <a:extLst>
                    <a:ext uri="{9D8B030D-6E8A-4147-A177-3AD203B41FA5}">
                      <a16:colId xmlns:a16="http://schemas.microsoft.com/office/drawing/2014/main" val="206954268"/>
                    </a:ext>
                  </a:extLst>
                </a:gridCol>
                <a:gridCol w="4924294">
                  <a:extLst>
                    <a:ext uri="{9D8B030D-6E8A-4147-A177-3AD203B41FA5}">
                      <a16:colId xmlns:a16="http://schemas.microsoft.com/office/drawing/2014/main" val="1152190671"/>
                    </a:ext>
                  </a:extLst>
                </a:gridCol>
              </a:tblGrid>
              <a:tr h="494852">
                <a:tc>
                  <a:txBody>
                    <a:bodyPr/>
                    <a:lstStyle/>
                    <a:p>
                      <a:r>
                        <a:rPr lang="en-US" sz="2400" dirty="0">
                          <a:latin typeface="Times New Roman" panose="02020603050405020304" pitchFamily="18" charset="0"/>
                          <a:cs typeface="Times New Roman" panose="02020603050405020304" pitchFamily="18" charset="0"/>
                        </a:rPr>
                        <a:t>S.NO</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Title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Authors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Years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Summary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64860162"/>
                  </a:ext>
                </a:extLst>
              </a:tr>
              <a:tr h="1537800">
                <a:tc>
                  <a:txBody>
                    <a:bodyPr/>
                    <a:lstStyle/>
                    <a:p>
                      <a:r>
                        <a:rPr lang="en-US" dirty="0"/>
                        <a:t>03</a:t>
                      </a:r>
                      <a:endParaRPr lang="en-IN" dirty="0"/>
                    </a:p>
                  </a:txBody>
                  <a:tcPr/>
                </a:tc>
                <a:tc>
                  <a:txBody>
                    <a:bodyPr/>
                    <a:lstStyle/>
                    <a:p>
                      <a:r>
                        <a:rPr lang="en-US" sz="1800" i="1" dirty="0">
                          <a:latin typeface="Times New Roman" panose="02020603050405020304" pitchFamily="18" charset="0"/>
                          <a:cs typeface="Times New Roman" panose="02020603050405020304" pitchFamily="18" charset="0"/>
                        </a:rPr>
                        <a:t>Federated Learning: Challenges, Methods, and Future Directions”</a:t>
                      </a:r>
                      <a:r>
                        <a:rPr lang="en-US" sz="1800" dirty="0">
                          <a:latin typeface="Times New Roman" panose="02020603050405020304" pitchFamily="18" charset="0"/>
                          <a:cs typeface="Times New Roman" panose="02020603050405020304" pitchFamily="18" charset="0"/>
                        </a:rPr>
                        <a:t> — </a:t>
                      </a:r>
                      <a:r>
                        <a:rPr lang="en-US" sz="1800" b="1" dirty="0">
                          <a:latin typeface="Times New Roman" panose="02020603050405020304" pitchFamily="18" charset="0"/>
                          <a:cs typeface="Times New Roman" panose="02020603050405020304" pitchFamily="18" charset="0"/>
                        </a:rPr>
                        <a:t>IEEE Signal Processing Magazine</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T. Li et al</a:t>
                      </a:r>
                    </a:p>
                  </a:txBody>
                  <a:tcPr/>
                </a:tc>
                <a:tc>
                  <a:txBody>
                    <a:bodyPr/>
                    <a:lstStyle/>
                    <a:p>
                      <a:r>
                        <a:rPr lang="en-US" sz="1800" dirty="0">
                          <a:latin typeface="Times New Roman" panose="02020603050405020304" pitchFamily="18" charset="0"/>
                          <a:cs typeface="Times New Roman" panose="02020603050405020304" pitchFamily="18" charset="0"/>
                        </a:rPr>
                        <a:t>2020</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This work examines the </a:t>
                      </a:r>
                      <a:r>
                        <a:rPr lang="en-US" sz="1800" b="1" dirty="0">
                          <a:latin typeface="Times New Roman" panose="02020603050405020304" pitchFamily="18" charset="0"/>
                          <a:cs typeface="Times New Roman" panose="02020603050405020304" pitchFamily="18" charset="0"/>
                        </a:rPr>
                        <a:t>optimization and system design challenges</a:t>
                      </a:r>
                      <a:r>
                        <a:rPr lang="en-US" sz="1800" dirty="0">
                          <a:latin typeface="Times New Roman" panose="02020603050405020304" pitchFamily="18" charset="0"/>
                          <a:cs typeface="Times New Roman" panose="02020603050405020304" pitchFamily="18" charset="0"/>
                        </a:rPr>
                        <a:t> in FL. It surveys algorithms for communication efficiency, model aggregation, and system heterogeneity. The authors discuss personalization techniques to adapt global models to local client distributions. </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0435564"/>
                  </a:ext>
                </a:extLst>
              </a:tr>
              <a:tr h="1537800">
                <a:tc>
                  <a:txBody>
                    <a:bodyPr/>
                    <a:lstStyle/>
                    <a:p>
                      <a:r>
                        <a:rPr lang="en-US" dirty="0"/>
                        <a:t>04</a:t>
                      </a:r>
                      <a:endParaRPr lang="en-IN" dirty="0"/>
                    </a:p>
                  </a:txBody>
                  <a:tcPr/>
                </a:tc>
                <a:tc>
                  <a:txBody>
                    <a:bodyPr/>
                    <a:lstStyle/>
                    <a:p>
                      <a:r>
                        <a:rPr lang="en-US" sz="1800" i="1" dirty="0" err="1">
                          <a:latin typeface="Times New Roman" panose="02020603050405020304" pitchFamily="18" charset="0"/>
                          <a:cs typeface="Times New Roman" panose="02020603050405020304" pitchFamily="18" charset="0"/>
                        </a:rPr>
                        <a:t>BeeFL</a:t>
                      </a:r>
                      <a:r>
                        <a:rPr lang="en-US" sz="1800" i="1" dirty="0">
                          <a:latin typeface="Times New Roman" panose="02020603050405020304" pitchFamily="18" charset="0"/>
                          <a:cs typeface="Times New Roman" panose="02020603050405020304" pitchFamily="18" charset="0"/>
                        </a:rPr>
                        <a:t>: A Blockchain-Based Federated Learning Framework”</a:t>
                      </a:r>
                      <a:r>
                        <a:rPr lang="en-US" sz="1800" dirty="0">
                          <a:latin typeface="Times New Roman" panose="02020603050405020304" pitchFamily="18" charset="0"/>
                          <a:cs typeface="Times New Roman" panose="02020603050405020304" pitchFamily="18" charset="0"/>
                        </a:rPr>
                        <a:t> — </a:t>
                      </a:r>
                      <a:r>
                        <a:rPr lang="en-US" sz="1800" b="1" dirty="0">
                          <a:latin typeface="Times New Roman" panose="02020603050405020304" pitchFamily="18" charset="0"/>
                          <a:cs typeface="Times New Roman" panose="02020603050405020304" pitchFamily="18" charset="0"/>
                        </a:rPr>
                        <a:t>IEEE Access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H. Xu et al</a:t>
                      </a:r>
                    </a:p>
                  </a:txBody>
                  <a:tcPr/>
                </a:tc>
                <a:tc>
                  <a:txBody>
                    <a:bodyPr/>
                    <a:lstStyle/>
                    <a:p>
                      <a:r>
                        <a:rPr lang="en-US" sz="1800" dirty="0">
                          <a:latin typeface="Times New Roman" panose="02020603050405020304" pitchFamily="18" charset="0"/>
                          <a:cs typeface="Times New Roman" panose="02020603050405020304" pitchFamily="18" charset="0"/>
                        </a:rPr>
                        <a:t>2021</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Xu and colleagues propose </a:t>
                      </a:r>
                      <a:r>
                        <a:rPr lang="en-US" sz="1800" b="1" dirty="0" err="1">
                          <a:latin typeface="Times New Roman" panose="02020603050405020304" pitchFamily="18" charset="0"/>
                          <a:cs typeface="Times New Roman" panose="02020603050405020304" pitchFamily="18" charset="0"/>
                        </a:rPr>
                        <a:t>BeeFL</a:t>
                      </a:r>
                      <a:r>
                        <a:rPr lang="en-US" sz="1800" dirty="0">
                          <a:latin typeface="Times New Roman" panose="02020603050405020304" pitchFamily="18" charset="0"/>
                          <a:cs typeface="Times New Roman" panose="02020603050405020304" pitchFamily="18" charset="0"/>
                        </a:rPr>
                        <a:t>, a hybrid architecture that integrates blockchain with FL to improve </a:t>
                      </a:r>
                      <a:r>
                        <a:rPr lang="en-US" sz="1800" b="1" dirty="0">
                          <a:latin typeface="Times New Roman" panose="02020603050405020304" pitchFamily="18" charset="0"/>
                          <a:cs typeface="Times New Roman" panose="02020603050405020304" pitchFamily="18" charset="0"/>
                        </a:rPr>
                        <a:t>security</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traceability</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trust</a:t>
                      </a:r>
                      <a:r>
                        <a:rPr lang="en-US" sz="1800" dirty="0">
                          <a:latin typeface="Times New Roman" panose="02020603050405020304" pitchFamily="18" charset="0"/>
                          <a:cs typeface="Times New Roman" panose="02020603050405020304" pitchFamily="18" charset="0"/>
                        </a:rPr>
                        <a:t>. The blockchain records model updates immutably, and smart contracts automate reward distribution to clients. </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76116072"/>
                  </a:ext>
                </a:extLst>
              </a:tr>
              <a:tr h="1537800">
                <a:tc>
                  <a:txBody>
                    <a:bodyPr/>
                    <a:lstStyle/>
                    <a:p>
                      <a:r>
                        <a:rPr lang="en-US" dirty="0"/>
                        <a:t>05</a:t>
                      </a:r>
                      <a:endParaRPr lang="en-IN" dirty="0"/>
                    </a:p>
                  </a:txBody>
                  <a:tcPr/>
                </a:tc>
                <a:tc>
                  <a:txBody>
                    <a:bodyPr/>
                    <a:lstStyle/>
                    <a:p>
                      <a:r>
                        <a:rPr lang="en-US" sz="1800" dirty="0">
                          <a:latin typeface="Times New Roman" panose="02020603050405020304" pitchFamily="18" charset="0"/>
                          <a:cs typeface="Times New Roman" panose="02020603050405020304" pitchFamily="18" charset="0"/>
                        </a:rPr>
                        <a:t>Reward and Incentive Mechanisms for Federated Systems”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1" dirty="0">
                          <a:latin typeface="Times New Roman" panose="02020603050405020304" pitchFamily="18" charset="0"/>
                          <a:cs typeface="Times New Roman" panose="02020603050405020304" pitchFamily="18" charset="0"/>
                        </a:rPr>
                        <a:t>P. </a:t>
                      </a:r>
                      <a:r>
                        <a:rPr lang="en-US" sz="1800" b="1" dirty="0" err="1">
                          <a:latin typeface="Times New Roman" panose="02020603050405020304" pitchFamily="18" charset="0"/>
                          <a:cs typeface="Times New Roman" panose="02020603050405020304" pitchFamily="18" charset="0"/>
                        </a:rPr>
                        <a:t>Basu</a:t>
                      </a:r>
                      <a:r>
                        <a:rPr lang="en-US" sz="1800" b="1" dirty="0">
                          <a:latin typeface="Times New Roman" panose="02020603050405020304" pitchFamily="18" charset="0"/>
                          <a:cs typeface="Times New Roman" panose="02020603050405020304" pitchFamily="18" charset="0"/>
                        </a:rPr>
                        <a:t> and S. Sharma</a:t>
                      </a: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2022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This work explores </a:t>
                      </a:r>
                      <a:r>
                        <a:rPr lang="en-US" sz="1800" b="1" dirty="0">
                          <a:latin typeface="Times New Roman" panose="02020603050405020304" pitchFamily="18" charset="0"/>
                          <a:cs typeface="Times New Roman" panose="02020603050405020304" pitchFamily="18" charset="0"/>
                        </a:rPr>
                        <a:t>game-theoretic incentive mechanisms</a:t>
                      </a:r>
                      <a:r>
                        <a:rPr lang="en-US" sz="1800" dirty="0">
                          <a:latin typeface="Times New Roman" panose="02020603050405020304" pitchFamily="18" charset="0"/>
                          <a:cs typeface="Times New Roman" panose="02020603050405020304" pitchFamily="18" charset="0"/>
                        </a:rPr>
                        <a:t> to motivate honest and high-quality participation in federated systems. The authors propose a blockchain-based token reward system to ensure fairness and accountability among clients.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11982606"/>
                  </a:ext>
                </a:extLst>
              </a:tr>
            </a:tbl>
          </a:graphicData>
        </a:graphic>
      </p:graphicFrame>
    </p:spTree>
    <p:extLst>
      <p:ext uri="{BB962C8B-B14F-4D97-AF65-F5344CB8AC3E}">
        <p14:creationId xmlns:p14="http://schemas.microsoft.com/office/powerpoint/2010/main" val="1468933195"/>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8</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61058"/>
            <a:ext cx="879597" cy="722905"/>
          </a:xfrm>
          <a:prstGeom prst="rect">
            <a:avLst/>
          </a:prstGeom>
        </p:spPr>
      </p:pic>
      <p:pic>
        <p:nvPicPr>
          <p:cNvPr id="2" name="Picture 1">
            <a:extLst>
              <a:ext uri="{FF2B5EF4-FFF2-40B4-BE49-F238E27FC236}">
                <a16:creationId xmlns:a16="http://schemas.microsoft.com/office/drawing/2014/main" id="{552177D8-53FC-C90B-E187-66383B633A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63592"/>
            <a:ext cx="3603009" cy="1117836"/>
          </a:xfrm>
          <a:prstGeom prst="rect">
            <a:avLst/>
          </a:prstGeom>
        </p:spPr>
      </p:pic>
      <p:graphicFrame>
        <p:nvGraphicFramePr>
          <p:cNvPr id="7" name="Table 12">
            <a:extLst>
              <a:ext uri="{FF2B5EF4-FFF2-40B4-BE49-F238E27FC236}">
                <a16:creationId xmlns:a16="http://schemas.microsoft.com/office/drawing/2014/main" id="{B71BA766-EE48-43BE-B70C-2C0E7F012D83}"/>
              </a:ext>
            </a:extLst>
          </p:cNvPr>
          <p:cNvGraphicFramePr>
            <a:graphicFrameLocks noGrp="1"/>
          </p:cNvGraphicFramePr>
          <p:nvPr>
            <p:extLst>
              <p:ext uri="{D42A27DB-BD31-4B8C-83A1-F6EECF244321}">
                <p14:modId xmlns:p14="http://schemas.microsoft.com/office/powerpoint/2010/main" val="363278702"/>
              </p:ext>
            </p:extLst>
          </p:nvPr>
        </p:nvGraphicFramePr>
        <p:xfrm>
          <a:off x="55330" y="1174633"/>
          <a:ext cx="12081339" cy="5171376"/>
        </p:xfrm>
        <a:graphic>
          <a:graphicData uri="http://schemas.openxmlformats.org/drawingml/2006/table">
            <a:tbl>
              <a:tblPr firstRow="1" bandRow="1">
                <a:tableStyleId>{5C22544A-7EE6-4342-B048-85BDC9FD1C3A}</a:tableStyleId>
              </a:tblPr>
              <a:tblGrid>
                <a:gridCol w="1138215">
                  <a:extLst>
                    <a:ext uri="{9D8B030D-6E8A-4147-A177-3AD203B41FA5}">
                      <a16:colId xmlns:a16="http://schemas.microsoft.com/office/drawing/2014/main" val="1560153937"/>
                    </a:ext>
                  </a:extLst>
                </a:gridCol>
                <a:gridCol w="2735781">
                  <a:extLst>
                    <a:ext uri="{9D8B030D-6E8A-4147-A177-3AD203B41FA5}">
                      <a16:colId xmlns:a16="http://schemas.microsoft.com/office/drawing/2014/main" val="1473408386"/>
                    </a:ext>
                  </a:extLst>
                </a:gridCol>
                <a:gridCol w="2735781">
                  <a:extLst>
                    <a:ext uri="{9D8B030D-6E8A-4147-A177-3AD203B41FA5}">
                      <a16:colId xmlns:a16="http://schemas.microsoft.com/office/drawing/2014/main" val="2753816116"/>
                    </a:ext>
                  </a:extLst>
                </a:gridCol>
                <a:gridCol w="2735781">
                  <a:extLst>
                    <a:ext uri="{9D8B030D-6E8A-4147-A177-3AD203B41FA5}">
                      <a16:colId xmlns:a16="http://schemas.microsoft.com/office/drawing/2014/main" val="607827455"/>
                    </a:ext>
                  </a:extLst>
                </a:gridCol>
                <a:gridCol w="2735781">
                  <a:extLst>
                    <a:ext uri="{9D8B030D-6E8A-4147-A177-3AD203B41FA5}">
                      <a16:colId xmlns:a16="http://schemas.microsoft.com/office/drawing/2014/main" val="2014646166"/>
                    </a:ext>
                  </a:extLst>
                </a:gridCol>
              </a:tblGrid>
              <a:tr h="599376">
                <a:tc>
                  <a:txBody>
                    <a:bodyPr/>
                    <a:lstStyle/>
                    <a:p>
                      <a:r>
                        <a:rPr lang="en-US" sz="2400" dirty="0">
                          <a:latin typeface="Times New Roman" panose="02020603050405020304" pitchFamily="18" charset="0"/>
                          <a:cs typeface="Times New Roman" panose="02020603050405020304" pitchFamily="18" charset="0"/>
                        </a:rPr>
                        <a:t>S.NO</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Title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Authors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Years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Summary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29488012"/>
                  </a:ext>
                </a:extLst>
              </a:tr>
              <a:tr h="830344">
                <a:tc>
                  <a:txBody>
                    <a:bodyPr/>
                    <a:lstStyle/>
                    <a:p>
                      <a:r>
                        <a:rPr lang="en-US" dirty="0"/>
                        <a:t>06</a:t>
                      </a:r>
                      <a:endParaRPr lang="en-IN" dirty="0"/>
                    </a:p>
                  </a:txBody>
                  <a:tcPr/>
                </a:tc>
                <a:tc>
                  <a:txBody>
                    <a:bodyPr/>
                    <a:lstStyle/>
                    <a:p>
                      <a:r>
                        <a:rPr lang="en-US" dirty="0"/>
                        <a:t>Fast Federated Machine Unlearning with Nonlinear Functional Theory</a:t>
                      </a:r>
                      <a:endParaRPr lang="en-IN" dirty="0"/>
                    </a:p>
                  </a:txBody>
                  <a:tcPr/>
                </a:tc>
                <a:tc>
                  <a:txBody>
                    <a:bodyPr/>
                    <a:lstStyle/>
                    <a:p>
                      <a:r>
                        <a:rPr lang="en-IN" dirty="0" err="1"/>
                        <a:t>Tianshi</a:t>
                      </a:r>
                      <a:r>
                        <a:rPr lang="en-IN" dirty="0"/>
                        <a:t> Che, Yang Zhou, </a:t>
                      </a:r>
                      <a:r>
                        <a:rPr lang="en-IN" dirty="0" err="1"/>
                        <a:t>Zijie</a:t>
                      </a:r>
                      <a:r>
                        <a:rPr lang="en-IN" dirty="0"/>
                        <a:t> Zhang, </a:t>
                      </a:r>
                      <a:r>
                        <a:rPr lang="en-IN" dirty="0" err="1"/>
                        <a:t>Lingjuan</a:t>
                      </a:r>
                      <a:r>
                        <a:rPr lang="en-IN" dirty="0"/>
                        <a:t> </a:t>
                      </a:r>
                      <a:r>
                        <a:rPr lang="en-IN" dirty="0" err="1"/>
                        <a:t>Lyu</a:t>
                      </a:r>
                      <a:r>
                        <a:rPr lang="en-IN" dirty="0"/>
                        <a:t>, Ji Liu, Da Yan, </a:t>
                      </a:r>
                      <a:r>
                        <a:rPr lang="en-IN" dirty="0" err="1"/>
                        <a:t>Dejing</a:t>
                      </a:r>
                      <a:r>
                        <a:rPr lang="en-IN" dirty="0"/>
                        <a:t> Dou, Jun Huan</a:t>
                      </a:r>
                    </a:p>
                  </a:txBody>
                  <a:tcPr/>
                </a:tc>
                <a:tc>
                  <a:txBody>
                    <a:bodyPr/>
                    <a:lstStyle/>
                    <a:p>
                      <a:r>
                        <a:rPr lang="en-US" dirty="0"/>
                        <a:t>2023</a:t>
                      </a:r>
                      <a:endParaRPr lang="en-IN" dirty="0"/>
                    </a:p>
                  </a:txBody>
                  <a:tcPr/>
                </a:tc>
                <a:tc>
                  <a:txBody>
                    <a:bodyPr/>
                    <a:lstStyle/>
                    <a:p>
                      <a:r>
                        <a:rPr lang="en-US" dirty="0"/>
                        <a:t>This paper advances federated unlearning by using nonlinear functional theory (specifically </a:t>
                      </a:r>
                      <a:r>
                        <a:rPr lang="en-US" dirty="0" err="1"/>
                        <a:t>Nemytskii</a:t>
                      </a:r>
                      <a:r>
                        <a:rPr lang="en-US" dirty="0"/>
                        <a:t> operators) to provide certified guarantees  </a:t>
                      </a:r>
                      <a:endParaRPr lang="en-IN" dirty="0"/>
                    </a:p>
                  </a:txBody>
                  <a:tcPr/>
                </a:tc>
                <a:extLst>
                  <a:ext uri="{0D108BD9-81ED-4DB2-BD59-A6C34878D82A}">
                    <a16:rowId xmlns:a16="http://schemas.microsoft.com/office/drawing/2014/main" val="3435312581"/>
                  </a:ext>
                </a:extLst>
              </a:tr>
              <a:tr h="908531">
                <a:tc>
                  <a:txBody>
                    <a:bodyPr/>
                    <a:lstStyle/>
                    <a:p>
                      <a:r>
                        <a:rPr lang="en-US" dirty="0"/>
                        <a:t>07</a:t>
                      </a:r>
                      <a:endParaRPr lang="en-IN" dirty="0"/>
                    </a:p>
                  </a:txBody>
                  <a:tcPr/>
                </a:tc>
                <a:tc>
                  <a:txBody>
                    <a:bodyPr/>
                    <a:lstStyle/>
                    <a:p>
                      <a:r>
                        <a:rPr lang="en-IN" dirty="0"/>
                        <a:t>Blockchain-enabled Trustworthy Federated Unlearning</a:t>
                      </a:r>
                    </a:p>
                  </a:txBody>
                  <a:tcPr/>
                </a:tc>
                <a:tc>
                  <a:txBody>
                    <a:bodyPr/>
                    <a:lstStyle/>
                    <a:p>
                      <a:r>
                        <a:rPr lang="en-IN" dirty="0" err="1"/>
                        <a:t>Yijing</a:t>
                      </a:r>
                      <a:r>
                        <a:rPr lang="en-IN" dirty="0"/>
                        <a:t> Lin, </a:t>
                      </a:r>
                      <a:r>
                        <a:rPr lang="en-IN" dirty="0" err="1"/>
                        <a:t>Zhipeng</a:t>
                      </a:r>
                      <a:r>
                        <a:rPr lang="en-IN" dirty="0"/>
                        <a:t> Gao, </a:t>
                      </a:r>
                      <a:r>
                        <a:rPr lang="en-IN" dirty="0" err="1"/>
                        <a:t>Hongyang</a:t>
                      </a:r>
                      <a:r>
                        <a:rPr lang="en-IN" dirty="0"/>
                        <a:t> Du, </a:t>
                      </a:r>
                      <a:r>
                        <a:rPr lang="en-IN" dirty="0" err="1"/>
                        <a:t>Jinke</a:t>
                      </a:r>
                      <a:r>
                        <a:rPr lang="en-IN" dirty="0"/>
                        <a:t> Ren, </a:t>
                      </a:r>
                      <a:r>
                        <a:rPr lang="en-IN" dirty="0" err="1"/>
                        <a:t>Zhiqiang</a:t>
                      </a:r>
                      <a:r>
                        <a:rPr lang="en-IN" dirty="0"/>
                        <a:t> </a:t>
                      </a:r>
                      <a:r>
                        <a:rPr lang="en-IN" dirty="0" err="1"/>
                        <a:t>Xie</a:t>
                      </a:r>
                      <a:endParaRPr lang="en-IN" dirty="0"/>
                    </a:p>
                  </a:txBody>
                  <a:tcPr/>
                </a:tc>
                <a:tc>
                  <a:txBody>
                    <a:bodyPr/>
                    <a:lstStyle/>
                    <a:p>
                      <a:r>
                        <a:rPr lang="en-US" dirty="0"/>
                        <a:t>2024</a:t>
                      </a:r>
                      <a:endParaRPr lang="en-IN" dirty="0"/>
                    </a:p>
                  </a:txBody>
                  <a:tcPr/>
                </a:tc>
                <a:tc>
                  <a:txBody>
                    <a:bodyPr/>
                    <a:lstStyle/>
                    <a:p>
                      <a:r>
                        <a:rPr lang="en-US" dirty="0"/>
                        <a:t>This paper integrates blockchain into the federated unlearning process: a “proof of federated unlearning” protocol uses chameleon hashes to verify that a client’s data contribution was removed </a:t>
                      </a:r>
                      <a:endParaRPr lang="en-IN" dirty="0"/>
                    </a:p>
                  </a:txBody>
                  <a:tcPr/>
                </a:tc>
                <a:extLst>
                  <a:ext uri="{0D108BD9-81ED-4DB2-BD59-A6C34878D82A}">
                    <a16:rowId xmlns:a16="http://schemas.microsoft.com/office/drawing/2014/main" val="2282743356"/>
                  </a:ext>
                </a:extLst>
              </a:tr>
            </a:tbl>
          </a:graphicData>
        </a:graphic>
      </p:graphicFrame>
    </p:spTree>
    <p:extLst>
      <p:ext uri="{BB962C8B-B14F-4D97-AF65-F5344CB8AC3E}">
        <p14:creationId xmlns:p14="http://schemas.microsoft.com/office/powerpoint/2010/main" val="58535722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9</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61058"/>
            <a:ext cx="879597" cy="722905"/>
          </a:xfrm>
          <a:prstGeom prst="rect">
            <a:avLst/>
          </a:prstGeom>
        </p:spPr>
      </p:pic>
      <p:pic>
        <p:nvPicPr>
          <p:cNvPr id="2" name="Picture 1">
            <a:extLst>
              <a:ext uri="{FF2B5EF4-FFF2-40B4-BE49-F238E27FC236}">
                <a16:creationId xmlns:a16="http://schemas.microsoft.com/office/drawing/2014/main" id="{552177D8-53FC-C90B-E187-66383B633A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63592"/>
            <a:ext cx="3603009" cy="1117836"/>
          </a:xfrm>
          <a:prstGeom prst="rect">
            <a:avLst/>
          </a:prstGeom>
        </p:spPr>
      </p:pic>
      <p:sp>
        <p:nvSpPr>
          <p:cNvPr id="7" name="TextBox 6">
            <a:extLst>
              <a:ext uri="{FF2B5EF4-FFF2-40B4-BE49-F238E27FC236}">
                <a16:creationId xmlns:a16="http://schemas.microsoft.com/office/drawing/2014/main" id="{DAD3E5C2-D816-440A-8039-0C0E93895483}"/>
              </a:ext>
            </a:extLst>
          </p:cNvPr>
          <p:cNvSpPr txBox="1"/>
          <p:nvPr/>
        </p:nvSpPr>
        <p:spPr>
          <a:xfrm>
            <a:off x="3760218" y="452031"/>
            <a:ext cx="4100033" cy="738664"/>
          </a:xfrm>
          <a:prstGeom prst="rect">
            <a:avLst/>
          </a:prstGeom>
          <a:noFill/>
        </p:spPr>
        <p:txBody>
          <a:bodyPr wrap="none" rtlCol="0">
            <a:spAutoFit/>
          </a:bodyPr>
          <a:lstStyle/>
          <a:p>
            <a:r>
              <a:rPr lang="en-US" sz="2400" b="1" dirty="0">
                <a:solidFill>
                  <a:schemeClr val="tx2"/>
                </a:solidFill>
                <a:latin typeface="Times New Roman" pitchFamily="18" charset="0"/>
                <a:cs typeface="Times New Roman" pitchFamily="18" charset="0"/>
              </a:rPr>
              <a:t>Outcome of Literature survey</a:t>
            </a:r>
          </a:p>
          <a:p>
            <a:endParaRPr lang="en-IN" dirty="0"/>
          </a:p>
        </p:txBody>
      </p:sp>
      <p:sp>
        <p:nvSpPr>
          <p:cNvPr id="13" name="TextBox 12">
            <a:extLst>
              <a:ext uri="{FF2B5EF4-FFF2-40B4-BE49-F238E27FC236}">
                <a16:creationId xmlns:a16="http://schemas.microsoft.com/office/drawing/2014/main" id="{3449742B-57B3-4A6E-A702-D95CC286AE9E}"/>
              </a:ext>
            </a:extLst>
          </p:cNvPr>
          <p:cNvSpPr txBox="1"/>
          <p:nvPr/>
        </p:nvSpPr>
        <p:spPr>
          <a:xfrm>
            <a:off x="318052" y="1255587"/>
            <a:ext cx="11463697" cy="3600986"/>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literature review on </a:t>
            </a:r>
            <a:r>
              <a:rPr lang="en-US" sz="2000" b="1" dirty="0">
                <a:latin typeface="Times New Roman" panose="02020603050405020304" pitchFamily="18" charset="0"/>
                <a:cs typeface="Times New Roman" panose="02020603050405020304" pitchFamily="18" charset="0"/>
              </a:rPr>
              <a:t>Federated Learning (FL)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Blockchain Integration</a:t>
            </a:r>
            <a:r>
              <a:rPr lang="en-US" sz="2000" dirty="0">
                <a:latin typeface="Times New Roman" panose="02020603050405020304" pitchFamily="18" charset="0"/>
                <a:cs typeface="Times New Roman" panose="02020603050405020304" pitchFamily="18" charset="0"/>
              </a:rPr>
              <a:t>, and  provides a comprehensive understanding of the current state, research progress, and open challenges in designing </a:t>
            </a:r>
            <a:r>
              <a:rPr lang="en-US" sz="2000" b="1" dirty="0">
                <a:latin typeface="Times New Roman" panose="02020603050405020304" pitchFamily="18" charset="0"/>
                <a:cs typeface="Times New Roman" panose="02020603050405020304" pitchFamily="18" charset="0"/>
              </a:rPr>
              <a:t>trustworthy, privacy-preserving AI systems</a:t>
            </a:r>
            <a:r>
              <a:rPr lang="en-US" sz="2000" dirty="0">
                <a:latin typeface="Times New Roman" panose="02020603050405020304" pitchFamily="18" charset="0"/>
                <a:cs typeface="Times New Roman" panose="02020603050405020304" pitchFamily="18" charset="0"/>
              </a:rPr>
              <a:t>. The collective findings from the reviewed papers reveal several key outcomes and research insights</a:t>
            </a:r>
          </a:p>
          <a:p>
            <a:pPr algn="just">
              <a:lnSpc>
                <a:spcPct val="150000"/>
              </a:lnSpc>
            </a:pPr>
            <a:r>
              <a:rPr lang="en-US" sz="2000" dirty="0">
                <a:latin typeface="Times New Roman" panose="02020603050405020304" pitchFamily="18" charset="0"/>
                <a:cs typeface="Times New Roman" panose="02020603050405020304" pitchFamily="18" charset="0"/>
              </a:rPr>
              <a:t> FL secures data locality, blockchain adds verifiable trust, and unlearning ensures data autonomy — their integration forms a holistic framework to address privacy, transparency, and accountability challenges in decentralized AI systems.</a:t>
            </a:r>
          </a:p>
          <a:p>
            <a:endParaRPr lang="en-US" dirty="0"/>
          </a:p>
        </p:txBody>
      </p:sp>
    </p:spTree>
    <p:extLst>
      <p:ext uri="{BB962C8B-B14F-4D97-AF65-F5344CB8AC3E}">
        <p14:creationId xmlns:p14="http://schemas.microsoft.com/office/powerpoint/2010/main" val="116566282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10</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61058"/>
            <a:ext cx="879597" cy="722905"/>
          </a:xfrm>
          <a:prstGeom prst="rect">
            <a:avLst/>
          </a:prstGeom>
        </p:spPr>
      </p:pic>
      <p:pic>
        <p:nvPicPr>
          <p:cNvPr id="2" name="Picture 1">
            <a:extLst>
              <a:ext uri="{FF2B5EF4-FFF2-40B4-BE49-F238E27FC236}">
                <a16:creationId xmlns:a16="http://schemas.microsoft.com/office/drawing/2014/main" id="{552177D8-53FC-C90B-E187-66383B633A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63592"/>
            <a:ext cx="3603009" cy="1117836"/>
          </a:xfrm>
          <a:prstGeom prst="rect">
            <a:avLst/>
          </a:prstGeom>
        </p:spPr>
      </p:pic>
      <p:sp>
        <p:nvSpPr>
          <p:cNvPr id="3" name="TextBox 2">
            <a:extLst>
              <a:ext uri="{FF2B5EF4-FFF2-40B4-BE49-F238E27FC236}">
                <a16:creationId xmlns:a16="http://schemas.microsoft.com/office/drawing/2014/main" id="{E98E8F20-DBFC-481F-BBC1-EF7E68426BD1}"/>
              </a:ext>
            </a:extLst>
          </p:cNvPr>
          <p:cNvSpPr txBox="1"/>
          <p:nvPr/>
        </p:nvSpPr>
        <p:spPr>
          <a:xfrm>
            <a:off x="4134677" y="397565"/>
            <a:ext cx="3603009" cy="461665"/>
          </a:xfrm>
          <a:prstGeom prst="rect">
            <a:avLst/>
          </a:prstGeom>
          <a:noFill/>
        </p:spPr>
        <p:txBody>
          <a:bodyPr wrap="square" rtlCol="0">
            <a:spAutoFit/>
          </a:bodyPr>
          <a:lstStyle/>
          <a:p>
            <a:r>
              <a:rPr lang="en-US" sz="2400" b="1" dirty="0">
                <a:solidFill>
                  <a:schemeClr val="tx2"/>
                </a:solidFill>
                <a:latin typeface="Times New Roman" pitchFamily="18" charset="0"/>
                <a:cs typeface="Times New Roman" pitchFamily="18" charset="0"/>
              </a:rPr>
              <a:t>       Problem Objectives</a:t>
            </a:r>
            <a:endParaRPr lang="en-IN" sz="2400" dirty="0">
              <a:solidFill>
                <a:schemeClr val="tx2"/>
              </a:solidFill>
            </a:endParaRPr>
          </a:p>
        </p:txBody>
      </p:sp>
      <p:sp>
        <p:nvSpPr>
          <p:cNvPr id="7" name="TextBox 6">
            <a:extLst>
              <a:ext uri="{FF2B5EF4-FFF2-40B4-BE49-F238E27FC236}">
                <a16:creationId xmlns:a16="http://schemas.microsoft.com/office/drawing/2014/main" id="{A594F104-29CC-4F9B-8944-E53EB76D3EB4}"/>
              </a:ext>
            </a:extLst>
          </p:cNvPr>
          <p:cNvSpPr txBox="1"/>
          <p:nvPr/>
        </p:nvSpPr>
        <p:spPr>
          <a:xfrm>
            <a:off x="250432" y="1189668"/>
            <a:ext cx="11371498" cy="4191981"/>
          </a:xfrm>
          <a:prstGeom prst="rect">
            <a:avLst/>
          </a:prstGeom>
          <a:noFill/>
        </p:spPr>
        <p:txBody>
          <a:bodyPr wrap="square" rtlCol="0">
            <a:spAutoFit/>
          </a:bodyPr>
          <a:lstStyle/>
          <a:p>
            <a:pPr marL="571500" indent="-571500" algn="just">
              <a:lnSpc>
                <a:spcPct val="150000"/>
              </a:lnSpc>
              <a:buFont typeface="Wingdings" panose="05000000000000000000" pitchFamily="2" charset="2"/>
              <a:buChar char="§"/>
            </a:pPr>
            <a:r>
              <a:rPr lang="en-IN" sz="2000" b="1" dirty="0">
                <a:latin typeface="Times New Roman" panose="02020603050405020304" pitchFamily="18" charset="0"/>
                <a:cs typeface="Times New Roman" panose="02020603050405020304" pitchFamily="18" charset="0"/>
              </a:rPr>
              <a:t>Enable Decentralized Data Contribution : </a:t>
            </a:r>
            <a:r>
              <a:rPr lang="en-US" sz="2000" dirty="0">
                <a:latin typeface="Times New Roman" panose="02020603050405020304" pitchFamily="18" charset="0"/>
                <a:cs typeface="Times New Roman" panose="02020603050405020304" pitchFamily="18" charset="0"/>
              </a:rPr>
              <a:t>It means letting anyone, anywhere share their data withou</a:t>
            </a:r>
            <a:r>
              <a:rPr lang="en-US" sz="2000" b="1" dirty="0">
                <a:latin typeface="Times New Roman" panose="02020603050405020304" pitchFamily="18" charset="0"/>
                <a:cs typeface="Times New Roman" panose="02020603050405020304" pitchFamily="18" charset="0"/>
              </a:rPr>
              <a:t>t </a:t>
            </a:r>
            <a:r>
              <a:rPr lang="en-US" sz="2000" dirty="0">
                <a:latin typeface="Times New Roman" panose="02020603050405020304" pitchFamily="18" charset="0"/>
                <a:cs typeface="Times New Roman" panose="02020603050405020304" pitchFamily="18" charset="0"/>
              </a:rPr>
              <a:t>needing to go through a big company or central system.</a:t>
            </a:r>
          </a:p>
          <a:p>
            <a:pPr marL="571500" indent="-5715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Ensure Data Traceability and Transparency </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means making sure that y</a:t>
            </a:r>
            <a:r>
              <a:rPr lang="en-US" sz="2000" dirty="0" err="1">
                <a:latin typeface="Times New Roman" panose="02020603050405020304" pitchFamily="18" charset="0"/>
                <a:cs typeface="Times New Roman" panose="02020603050405020304" pitchFamily="18" charset="0"/>
              </a:rPr>
              <a:t>ou</a:t>
            </a:r>
            <a:r>
              <a:rPr lang="en-US" sz="2000" dirty="0">
                <a:latin typeface="Times New Roman" panose="02020603050405020304" pitchFamily="18" charset="0"/>
                <a:cs typeface="Times New Roman" panose="02020603050405020304" pitchFamily="18" charset="0"/>
              </a:rPr>
              <a:t> always know who</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added the data, when they added it and no one  </a:t>
            </a:r>
            <a:r>
              <a:rPr lang="en-US" sz="2000" dirty="0" err="1">
                <a:latin typeface="Times New Roman" panose="02020603050405020304" pitchFamily="18" charset="0"/>
                <a:cs typeface="Times New Roman" panose="02020603050405020304" pitchFamily="18" charset="0"/>
              </a:rPr>
              <a:t>secreatly</a:t>
            </a:r>
            <a:r>
              <a:rPr lang="en-US" sz="2000" dirty="0">
                <a:latin typeface="Times New Roman" panose="02020603050405020304" pitchFamily="18" charset="0"/>
                <a:cs typeface="Times New Roman" panose="02020603050405020304" pitchFamily="18" charset="0"/>
              </a:rPr>
              <a:t> change it later.</a:t>
            </a:r>
          </a:p>
          <a:p>
            <a:pPr marL="571500" indent="-571500" algn="just">
              <a:lnSpc>
                <a:spcPct val="150000"/>
              </a:lnSpc>
              <a:buFont typeface="Wingdings" panose="05000000000000000000" pitchFamily="2" charset="2"/>
              <a:buChar char="§"/>
            </a:pPr>
            <a:r>
              <a:rPr lang="en-IN" sz="2000" b="1" dirty="0">
                <a:latin typeface="Times New Roman" panose="02020603050405020304" pitchFamily="18" charset="0"/>
                <a:cs typeface="Times New Roman" panose="02020603050405020304" pitchFamily="18" charset="0"/>
              </a:rPr>
              <a:t>Design a Fair and Incentive-Based Reward Mechanism : </a:t>
            </a:r>
            <a:r>
              <a:rPr lang="en-US" sz="2000" dirty="0">
                <a:latin typeface="Times New Roman" panose="02020603050405020304" pitchFamily="18" charset="0"/>
                <a:cs typeface="Times New Roman" panose="02020603050405020304" pitchFamily="18" charset="0"/>
              </a:rPr>
              <a:t>means creating a system where people who share good and useful data get </a:t>
            </a:r>
            <a:r>
              <a:rPr lang="en-US" sz="2000" b="1" dirty="0">
                <a:latin typeface="Times New Roman" panose="02020603050405020304" pitchFamily="18" charset="0"/>
                <a:cs typeface="Times New Roman" panose="02020603050405020304" pitchFamily="18" charset="0"/>
              </a:rPr>
              <a:t>rewards</a:t>
            </a:r>
            <a:r>
              <a:rPr lang="en-US" sz="2000" dirty="0">
                <a:latin typeface="Times New Roman" panose="02020603050405020304" pitchFamily="18" charset="0"/>
                <a:cs typeface="Times New Roman" panose="02020603050405020304" pitchFamily="18" charset="0"/>
              </a:rPr>
              <a:t>.</a:t>
            </a:r>
          </a:p>
          <a:p>
            <a:pPr marL="571500" indent="-571500" algn="just">
              <a:lnSpc>
                <a:spcPct val="150000"/>
              </a:lnSpc>
              <a:buFont typeface="Wingdings" panose="05000000000000000000" pitchFamily="2" charset="2"/>
              <a:buChar char="§"/>
            </a:pPr>
            <a:r>
              <a:rPr lang="en-IN" sz="2000" b="1" dirty="0">
                <a:latin typeface="Times New Roman" panose="02020603050405020304" pitchFamily="18" charset="0"/>
                <a:cs typeface="Times New Roman" panose="02020603050405020304" pitchFamily="18" charset="0"/>
              </a:rPr>
              <a:t>Implement On-Chain Verification and Smart Contract Auditing</a:t>
            </a:r>
            <a:r>
              <a:rPr lang="en-IN" sz="2000" dirty="0">
                <a:latin typeface="Times New Roman" panose="02020603050405020304" pitchFamily="18" charset="0"/>
                <a:cs typeface="Times New Roman" panose="02020603050405020304" pitchFamily="18" charset="0"/>
              </a:rPr>
              <a:t>  : </a:t>
            </a:r>
            <a:r>
              <a:rPr lang="en-IN" sz="2000" b="1" dirty="0">
                <a:latin typeface="Times New Roman" panose="02020603050405020304" pitchFamily="18" charset="0"/>
                <a:cs typeface="Times New Roman" panose="02020603050405020304" pitchFamily="18" charset="0"/>
              </a:rPr>
              <a:t>On-Chain Verification </a:t>
            </a:r>
            <a:r>
              <a:rPr lang="en-IN" sz="2000" dirty="0">
                <a:latin typeface="Times New Roman" panose="02020603050405020304" pitchFamily="18" charset="0"/>
                <a:cs typeface="Times New Roman" panose="02020603050405020304" pitchFamily="18" charset="0"/>
              </a:rPr>
              <a:t>means</a:t>
            </a:r>
            <a:r>
              <a:rPr lang="en-US" sz="2000" dirty="0">
                <a:latin typeface="Times New Roman" panose="02020603050405020304" pitchFamily="18" charset="0"/>
                <a:cs typeface="Times New Roman" panose="02020603050405020304" pitchFamily="18" charset="0"/>
              </a:rPr>
              <a:t> everything is written on the blockchain, so it’s clear and can’t be changed and </a:t>
            </a:r>
            <a:r>
              <a:rPr lang="en-IN" sz="2000" b="1" dirty="0">
                <a:latin typeface="Times New Roman" panose="02020603050405020304" pitchFamily="18" charset="0"/>
                <a:cs typeface="Times New Roman" panose="02020603050405020304" pitchFamily="18" charset="0"/>
              </a:rPr>
              <a:t>Smart Contract Auditing ,it is used </a:t>
            </a:r>
            <a:r>
              <a:rPr lang="en-IN" sz="2000" dirty="0">
                <a:latin typeface="Times New Roman" panose="02020603050405020304" pitchFamily="18" charset="0"/>
                <a:cs typeface="Times New Roman" panose="02020603050405020304" pitchFamily="18" charset="0"/>
              </a:rPr>
              <a:t>to check the rules t</a:t>
            </a:r>
            <a:r>
              <a:rPr lang="en-US" sz="2000" dirty="0">
                <a:latin typeface="Times New Roman" panose="02020603050405020304" pitchFamily="18" charset="0"/>
                <a:cs typeface="Times New Roman" panose="02020603050405020304" pitchFamily="18" charset="0"/>
              </a:rPr>
              <a:t>o make sure they work properly and fairly.</a:t>
            </a:r>
          </a:p>
        </p:txBody>
      </p:sp>
    </p:spTree>
    <p:extLst>
      <p:ext uri="{BB962C8B-B14F-4D97-AF65-F5344CB8AC3E}">
        <p14:creationId xmlns:p14="http://schemas.microsoft.com/office/powerpoint/2010/main" val="2242469295"/>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11</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61058"/>
            <a:ext cx="879597" cy="722905"/>
          </a:xfrm>
          <a:prstGeom prst="rect">
            <a:avLst/>
          </a:prstGeom>
        </p:spPr>
      </p:pic>
      <p:pic>
        <p:nvPicPr>
          <p:cNvPr id="2" name="Picture 1">
            <a:extLst>
              <a:ext uri="{FF2B5EF4-FFF2-40B4-BE49-F238E27FC236}">
                <a16:creationId xmlns:a16="http://schemas.microsoft.com/office/drawing/2014/main" id="{552177D8-53FC-C90B-E187-66383B633A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63592"/>
            <a:ext cx="3603009" cy="1117836"/>
          </a:xfrm>
          <a:prstGeom prst="rect">
            <a:avLst/>
          </a:prstGeom>
        </p:spPr>
      </p:pic>
      <p:sp>
        <p:nvSpPr>
          <p:cNvPr id="7" name="TextBox 6">
            <a:extLst>
              <a:ext uri="{FF2B5EF4-FFF2-40B4-BE49-F238E27FC236}">
                <a16:creationId xmlns:a16="http://schemas.microsoft.com/office/drawing/2014/main" id="{1086623D-5C2A-41ED-9DAB-3376B185A919}"/>
              </a:ext>
            </a:extLst>
          </p:cNvPr>
          <p:cNvSpPr txBox="1"/>
          <p:nvPr/>
        </p:nvSpPr>
        <p:spPr>
          <a:xfrm>
            <a:off x="238539" y="1189668"/>
            <a:ext cx="11543210" cy="1077218"/>
          </a:xfrm>
          <a:prstGeom prst="rect">
            <a:avLst/>
          </a:prstGeom>
          <a:noFill/>
        </p:spPr>
        <p:txBody>
          <a:bodyPr wrap="square" rtlCol="0">
            <a:spAutoFit/>
          </a:bodyPr>
          <a:lstStyle/>
          <a:p>
            <a:r>
              <a:rPr lang="en-US" sz="2400" b="1" dirty="0">
                <a:latin typeface="Times New Roman" pitchFamily="18" charset="0"/>
                <a:cs typeface="Times New Roman" pitchFamily="18" charset="0"/>
              </a:rPr>
              <a:t>Software requirements </a:t>
            </a:r>
            <a:r>
              <a:rPr lang="en-US" sz="2000" b="1" dirty="0">
                <a:latin typeface="Times New Roman" pitchFamily="18" charset="0"/>
                <a:cs typeface="Times New Roman" pitchFamily="18" charset="0"/>
              </a:rPr>
              <a:t>:</a:t>
            </a:r>
          </a:p>
          <a:p>
            <a:pPr marL="342900" indent="-342900">
              <a:buFont typeface="Wingdings" panose="05000000000000000000" pitchFamily="2" charset="2"/>
              <a:buChar char="ü"/>
            </a:pPr>
            <a:endParaRPr lang="en-US" sz="2000" b="1" dirty="0">
              <a:latin typeface="Times New Roman" pitchFamily="18" charset="0"/>
              <a:cs typeface="Times New Roman" pitchFamily="18" charset="0"/>
            </a:endParaRPr>
          </a:p>
          <a:p>
            <a:pPr marL="342900" indent="-342900">
              <a:buFont typeface="Wingdings" panose="05000000000000000000" pitchFamily="2" charset="2"/>
              <a:buChar char="Ø"/>
            </a:pPr>
            <a:endParaRPr lang="en-IN" sz="2000" dirty="0"/>
          </a:p>
        </p:txBody>
      </p:sp>
      <p:graphicFrame>
        <p:nvGraphicFramePr>
          <p:cNvPr id="17" name="Table 17">
            <a:extLst>
              <a:ext uri="{FF2B5EF4-FFF2-40B4-BE49-F238E27FC236}">
                <a16:creationId xmlns:a16="http://schemas.microsoft.com/office/drawing/2014/main" id="{03FC53A2-9CDE-4DA4-AEB5-5C4C0E959A8F}"/>
              </a:ext>
            </a:extLst>
          </p:cNvPr>
          <p:cNvGraphicFramePr>
            <a:graphicFrameLocks noGrp="1"/>
          </p:cNvGraphicFramePr>
          <p:nvPr>
            <p:extLst>
              <p:ext uri="{D42A27DB-BD31-4B8C-83A1-F6EECF244321}">
                <p14:modId xmlns:p14="http://schemas.microsoft.com/office/powerpoint/2010/main" val="2793100341"/>
              </p:ext>
            </p:extLst>
          </p:nvPr>
        </p:nvGraphicFramePr>
        <p:xfrm>
          <a:off x="274701" y="1669774"/>
          <a:ext cx="11067249" cy="4717211"/>
        </p:xfrm>
        <a:graphic>
          <a:graphicData uri="http://schemas.openxmlformats.org/drawingml/2006/table">
            <a:tbl>
              <a:tblPr bandRow="1">
                <a:effectLst/>
                <a:tableStyleId>{F5AB1C69-6EDB-4FF4-983F-18BD219EF322}</a:tableStyleId>
              </a:tblPr>
              <a:tblGrid>
                <a:gridCol w="3689083">
                  <a:extLst>
                    <a:ext uri="{9D8B030D-6E8A-4147-A177-3AD203B41FA5}">
                      <a16:colId xmlns:a16="http://schemas.microsoft.com/office/drawing/2014/main" val="617804551"/>
                    </a:ext>
                  </a:extLst>
                </a:gridCol>
                <a:gridCol w="3689083">
                  <a:extLst>
                    <a:ext uri="{9D8B030D-6E8A-4147-A177-3AD203B41FA5}">
                      <a16:colId xmlns:a16="http://schemas.microsoft.com/office/drawing/2014/main" val="3401935463"/>
                    </a:ext>
                  </a:extLst>
                </a:gridCol>
                <a:gridCol w="3689083">
                  <a:extLst>
                    <a:ext uri="{9D8B030D-6E8A-4147-A177-3AD203B41FA5}">
                      <a16:colId xmlns:a16="http://schemas.microsoft.com/office/drawing/2014/main" val="4222316807"/>
                    </a:ext>
                  </a:extLst>
                </a:gridCol>
              </a:tblGrid>
              <a:tr h="649356">
                <a:tc>
                  <a:txBody>
                    <a:bodyPr/>
                    <a:lstStyle/>
                    <a:p>
                      <a:r>
                        <a:rPr lang="en-US" sz="2000" dirty="0">
                          <a:latin typeface="Times New Roman" panose="02020603050405020304" pitchFamily="18" charset="0"/>
                          <a:cs typeface="Times New Roman" panose="02020603050405020304" pitchFamily="18" charset="0"/>
                        </a:rPr>
                        <a:t>Category</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 Specification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 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2732375"/>
                  </a:ext>
                </a:extLst>
              </a:tr>
              <a:tr h="813571">
                <a:tc>
                  <a:txBody>
                    <a:bodyPr/>
                    <a:lstStyle/>
                    <a:p>
                      <a:r>
                        <a:rPr lang="en-IN" sz="2000" dirty="0">
                          <a:latin typeface="Times New Roman" panose="02020603050405020304" pitchFamily="18" charset="0"/>
                          <a:cs typeface="Times New Roman" panose="02020603050405020304" pitchFamily="18" charset="0"/>
                        </a:rPr>
                        <a:t>Operating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Ubuntu 20.04 LTS / Windows 10 / 11</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Stable OS for ML and blockchain frameworks</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8283128"/>
                  </a:ext>
                </a:extLst>
              </a:tr>
              <a:tr h="813571">
                <a:tc>
                  <a:txBody>
                    <a:bodyPr/>
                    <a:lstStyle/>
                    <a:p>
                      <a:r>
                        <a:rPr lang="en-IN" sz="2000" dirty="0">
                          <a:latin typeface="Times New Roman" panose="02020603050405020304" pitchFamily="18" charset="0"/>
                          <a:cs typeface="Times New Roman" panose="02020603050405020304" pitchFamily="18" charset="0"/>
                        </a:rPr>
                        <a:t>Programming Language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Python 3.8 – 3.12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Main language for FL, ML, and blockchain simulation</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1495356"/>
                  </a:ext>
                </a:extLst>
              </a:tr>
              <a:tr h="813571">
                <a:tc>
                  <a:txBody>
                    <a:bodyPr/>
                    <a:lstStyle/>
                    <a:p>
                      <a:r>
                        <a:rPr lang="en-IN" sz="2000" dirty="0">
                          <a:latin typeface="Times New Roman" panose="02020603050405020304" pitchFamily="18" charset="0"/>
                          <a:cs typeface="Times New Roman" panose="02020603050405020304" pitchFamily="18" charset="0"/>
                        </a:rPr>
                        <a:t>Machine Learning Libraries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TensorFlow 2.x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For building and training federated models</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393491"/>
                  </a:ext>
                </a:extLst>
              </a:tr>
              <a:tr h="813571">
                <a:tc>
                  <a:txBody>
                    <a:bodyPr/>
                    <a:lstStyle/>
                    <a:p>
                      <a:r>
                        <a:rPr lang="en-IN" sz="2000" dirty="0">
                          <a:latin typeface="Times New Roman" panose="02020603050405020304" pitchFamily="18" charset="0"/>
                          <a:cs typeface="Times New Roman" panose="02020603050405020304" pitchFamily="18" charset="0"/>
                        </a:rPr>
                        <a:t>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PostgreSQL / MongoDB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Stores metadata, model parameters, and user info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8785231"/>
                  </a:ext>
                </a:extLst>
              </a:tr>
              <a:tr h="813571">
                <a:tc>
                  <a:txBody>
                    <a:bodyPr/>
                    <a:lstStyle/>
                    <a:p>
                      <a:r>
                        <a:rPr lang="en-IN" sz="2000" dirty="0">
                          <a:latin typeface="Times New Roman" panose="02020603050405020304" pitchFamily="18" charset="0"/>
                          <a:cs typeface="Times New Roman" panose="02020603050405020304" pitchFamily="18" charset="0"/>
                        </a:rPr>
                        <a:t>Version Control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Git + GitHub / GitLab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Code management and collaboration.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0435964"/>
                  </a:ext>
                </a:extLst>
              </a:tr>
            </a:tbl>
          </a:graphicData>
        </a:graphic>
      </p:graphicFrame>
    </p:spTree>
    <p:extLst>
      <p:ext uri="{BB962C8B-B14F-4D97-AF65-F5344CB8AC3E}">
        <p14:creationId xmlns:p14="http://schemas.microsoft.com/office/powerpoint/2010/main" val="351309071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12</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61058"/>
            <a:ext cx="879597" cy="722905"/>
          </a:xfrm>
          <a:prstGeom prst="rect">
            <a:avLst/>
          </a:prstGeom>
        </p:spPr>
      </p:pic>
      <p:pic>
        <p:nvPicPr>
          <p:cNvPr id="2" name="Picture 1">
            <a:extLst>
              <a:ext uri="{FF2B5EF4-FFF2-40B4-BE49-F238E27FC236}">
                <a16:creationId xmlns:a16="http://schemas.microsoft.com/office/drawing/2014/main" id="{552177D8-53FC-C90B-E187-66383B633A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63592"/>
            <a:ext cx="3603009" cy="1117836"/>
          </a:xfrm>
          <a:prstGeom prst="rect">
            <a:avLst/>
          </a:prstGeom>
        </p:spPr>
      </p:pic>
      <p:sp>
        <p:nvSpPr>
          <p:cNvPr id="3" name="TextBox 2">
            <a:extLst>
              <a:ext uri="{FF2B5EF4-FFF2-40B4-BE49-F238E27FC236}">
                <a16:creationId xmlns:a16="http://schemas.microsoft.com/office/drawing/2014/main" id="{5E3EEABF-70F4-47FE-A28C-1774ADED8E29}"/>
              </a:ext>
            </a:extLst>
          </p:cNvPr>
          <p:cNvSpPr txBox="1"/>
          <p:nvPr/>
        </p:nvSpPr>
        <p:spPr>
          <a:xfrm>
            <a:off x="236957" y="1181428"/>
            <a:ext cx="11228906" cy="738664"/>
          </a:xfrm>
          <a:prstGeom prst="rect">
            <a:avLst/>
          </a:prstGeom>
          <a:noFill/>
        </p:spPr>
        <p:txBody>
          <a:bodyPr wrap="square" rtlCol="0">
            <a:spAutoFit/>
          </a:bodyPr>
          <a:lstStyle/>
          <a:p>
            <a:r>
              <a:rPr lang="en-US" sz="2400" b="1" dirty="0">
                <a:latin typeface="Times New Roman" pitchFamily="18" charset="0"/>
                <a:cs typeface="Times New Roman" pitchFamily="18" charset="0"/>
              </a:rPr>
              <a:t>Hardware requirements </a:t>
            </a:r>
            <a:r>
              <a:rPr lang="en-US" sz="1800" b="1" dirty="0">
                <a:latin typeface="Times New Roman" pitchFamily="18" charset="0"/>
                <a:cs typeface="Times New Roman" pitchFamily="18" charset="0"/>
              </a:rPr>
              <a:t>:</a:t>
            </a:r>
          </a:p>
          <a:p>
            <a:endParaRPr lang="en-IN" dirty="0"/>
          </a:p>
        </p:txBody>
      </p:sp>
      <p:graphicFrame>
        <p:nvGraphicFramePr>
          <p:cNvPr id="7" name="Table 12">
            <a:extLst>
              <a:ext uri="{FF2B5EF4-FFF2-40B4-BE49-F238E27FC236}">
                <a16:creationId xmlns:a16="http://schemas.microsoft.com/office/drawing/2014/main" id="{1E172421-CBA8-41C2-91D0-2FA28B7D8B08}"/>
              </a:ext>
            </a:extLst>
          </p:cNvPr>
          <p:cNvGraphicFramePr>
            <a:graphicFrameLocks noGrp="1"/>
          </p:cNvGraphicFramePr>
          <p:nvPr>
            <p:extLst>
              <p:ext uri="{D42A27DB-BD31-4B8C-83A1-F6EECF244321}">
                <p14:modId xmlns:p14="http://schemas.microsoft.com/office/powerpoint/2010/main" val="3592774679"/>
              </p:ext>
            </p:extLst>
          </p:nvPr>
        </p:nvGraphicFramePr>
        <p:xfrm>
          <a:off x="245129" y="1756143"/>
          <a:ext cx="11709915" cy="4166435"/>
        </p:xfrm>
        <a:graphic>
          <a:graphicData uri="http://schemas.openxmlformats.org/drawingml/2006/table">
            <a:tbl>
              <a:tblPr bandRow="1">
                <a:tableStyleId>{F5AB1C69-6EDB-4FF4-983F-18BD219EF322}</a:tableStyleId>
              </a:tblPr>
              <a:tblGrid>
                <a:gridCol w="3903305">
                  <a:extLst>
                    <a:ext uri="{9D8B030D-6E8A-4147-A177-3AD203B41FA5}">
                      <a16:colId xmlns:a16="http://schemas.microsoft.com/office/drawing/2014/main" val="908616955"/>
                    </a:ext>
                  </a:extLst>
                </a:gridCol>
                <a:gridCol w="3903305">
                  <a:extLst>
                    <a:ext uri="{9D8B030D-6E8A-4147-A177-3AD203B41FA5}">
                      <a16:colId xmlns:a16="http://schemas.microsoft.com/office/drawing/2014/main" val="3243410405"/>
                    </a:ext>
                  </a:extLst>
                </a:gridCol>
                <a:gridCol w="3903305">
                  <a:extLst>
                    <a:ext uri="{9D8B030D-6E8A-4147-A177-3AD203B41FA5}">
                      <a16:colId xmlns:a16="http://schemas.microsoft.com/office/drawing/2014/main" val="3333887776"/>
                    </a:ext>
                  </a:extLst>
                </a:gridCol>
              </a:tblGrid>
              <a:tr h="602744">
                <a:tc>
                  <a:txBody>
                    <a:bodyPr/>
                    <a:lstStyle/>
                    <a:p>
                      <a:r>
                        <a:rPr lang="en-IN" sz="2000" b="0" dirty="0">
                          <a:latin typeface="Times New Roman" panose="02020603050405020304" pitchFamily="18" charset="0"/>
                          <a:cs typeface="Times New Roman" panose="02020603050405020304" pitchFamily="18"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Minimum 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Simulation</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0488977"/>
                  </a:ext>
                </a:extLst>
              </a:tr>
              <a:tr h="852617">
                <a:tc>
                  <a:txBody>
                    <a:bodyPr/>
                    <a:lstStyle/>
                    <a:p>
                      <a:r>
                        <a:rPr lang="en-IN" sz="2000" b="0" dirty="0">
                          <a:latin typeface="Times New Roman" panose="02020603050405020304" pitchFamily="18" charset="0"/>
                          <a:cs typeface="Times New Roman" panose="02020603050405020304" pitchFamily="18" charset="0"/>
                        </a:rPr>
                        <a:t>Processor (CPU)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Intel Core i5 / </a:t>
                      </a:r>
                      <a:r>
                        <a:rPr lang="en-IN" sz="2000" dirty="0" err="1">
                          <a:latin typeface="Times New Roman" panose="02020603050405020304" pitchFamily="18" charset="0"/>
                          <a:cs typeface="Times New Roman" panose="02020603050405020304" pitchFamily="18" charset="0"/>
                        </a:rPr>
                        <a:t>Ryzen</a:t>
                      </a:r>
                      <a:r>
                        <a:rPr lang="en-IN" sz="2000" dirty="0">
                          <a:latin typeface="Times New Roman" panose="02020603050405020304" pitchFamily="18" charset="0"/>
                          <a:cs typeface="Times New Roman" panose="02020603050405020304" pitchFamily="18" charset="0"/>
                        </a:rPr>
                        <a:t>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Intel Core i7 / Ryzen 7 or higher, multi-core (≥ 8 threads)</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63390"/>
                  </a:ext>
                </a:extLst>
              </a:tr>
              <a:tr h="852617">
                <a:tc>
                  <a:txBody>
                    <a:bodyPr/>
                    <a:lstStyle/>
                    <a:p>
                      <a:r>
                        <a:rPr lang="en-IN" sz="2000" dirty="0">
                          <a:latin typeface="Times New Roman" panose="02020603050405020304" pitchFamily="18" charset="0"/>
                          <a:cs typeface="Times New Roman" panose="02020603050405020304" pitchFamily="18" charset="0"/>
                        </a:rPr>
                        <a:t>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8 GB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16 – 32 GB for multi-client simulations</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362303"/>
                  </a:ext>
                </a:extLst>
              </a:tr>
              <a:tr h="852617">
                <a:tc>
                  <a:txBody>
                    <a:bodyPr/>
                    <a:lstStyle/>
                    <a:p>
                      <a:r>
                        <a:rPr lang="en-US" sz="2000" dirty="0">
                          <a:latin typeface="Times New Roman" panose="02020603050405020304" pitchFamily="18" charset="0"/>
                          <a:cs typeface="Times New Roman" panose="02020603050405020304" pitchFamily="18" charset="0"/>
                        </a:rPr>
                        <a:t>Storage </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256 GB SSD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512 GB – 1 TB SSD for datasets and blockchain ledger storage</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8046349"/>
                  </a:ext>
                </a:extLst>
              </a:tr>
              <a:tr h="852617">
                <a:tc>
                  <a:txBody>
                    <a:bodyPr/>
                    <a:lstStyle/>
                    <a:p>
                      <a:r>
                        <a:rPr lang="en-US" sz="2000" dirty="0">
                          <a:latin typeface="Times New Roman" panose="02020603050405020304" pitchFamily="18" charset="0"/>
                          <a:cs typeface="Times New Roman" panose="02020603050405020304" pitchFamily="18" charset="0"/>
                        </a:rPr>
                        <a:t>Network</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latin typeface="Times New Roman" panose="02020603050405020304" pitchFamily="18" charset="0"/>
                          <a:cs typeface="Times New Roman" panose="02020603050405020304" pitchFamily="18" charset="0"/>
                        </a:rPr>
                        <a:t>Broadband ≥ 10 Mbps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High-speed LAN or virtualized environment for distributed node communication</a:t>
                      </a:r>
                      <a:endParaRPr lang="en-IN"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9974530"/>
                  </a:ext>
                </a:extLst>
              </a:tr>
            </a:tbl>
          </a:graphicData>
        </a:graphic>
      </p:graphicFrame>
    </p:spTree>
    <p:extLst>
      <p:ext uri="{BB962C8B-B14F-4D97-AF65-F5344CB8AC3E}">
        <p14:creationId xmlns:p14="http://schemas.microsoft.com/office/powerpoint/2010/main" val="224265067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13</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61058"/>
            <a:ext cx="879597" cy="722905"/>
          </a:xfrm>
          <a:prstGeom prst="rect">
            <a:avLst/>
          </a:prstGeom>
        </p:spPr>
      </p:pic>
      <p:pic>
        <p:nvPicPr>
          <p:cNvPr id="2" name="Picture 1">
            <a:extLst>
              <a:ext uri="{FF2B5EF4-FFF2-40B4-BE49-F238E27FC236}">
                <a16:creationId xmlns:a16="http://schemas.microsoft.com/office/drawing/2014/main" id="{552177D8-53FC-C90B-E187-66383B633A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63592"/>
            <a:ext cx="3603009" cy="1117836"/>
          </a:xfrm>
          <a:prstGeom prst="rect">
            <a:avLst/>
          </a:prstGeom>
        </p:spPr>
      </p:pic>
    </p:spTree>
    <p:extLst>
      <p:ext uri="{BB962C8B-B14F-4D97-AF65-F5344CB8AC3E}">
        <p14:creationId xmlns:p14="http://schemas.microsoft.com/office/powerpoint/2010/main" val="288731135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14</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61058"/>
            <a:ext cx="879597" cy="722905"/>
          </a:xfrm>
          <a:prstGeom prst="rect">
            <a:avLst/>
          </a:prstGeom>
        </p:spPr>
      </p:pic>
      <p:pic>
        <p:nvPicPr>
          <p:cNvPr id="2" name="Picture 1">
            <a:extLst>
              <a:ext uri="{FF2B5EF4-FFF2-40B4-BE49-F238E27FC236}">
                <a16:creationId xmlns:a16="http://schemas.microsoft.com/office/drawing/2014/main" id="{552177D8-53FC-C90B-E187-66383B633A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63592"/>
            <a:ext cx="3603009" cy="1117836"/>
          </a:xfrm>
          <a:prstGeom prst="rect">
            <a:avLst/>
          </a:prstGeom>
        </p:spPr>
      </p:pic>
      <p:sp>
        <p:nvSpPr>
          <p:cNvPr id="3" name="TextBox 2">
            <a:extLst>
              <a:ext uri="{FF2B5EF4-FFF2-40B4-BE49-F238E27FC236}">
                <a16:creationId xmlns:a16="http://schemas.microsoft.com/office/drawing/2014/main" id="{F4D973C7-156C-41AB-BBC5-FE2A3CBE824B}"/>
              </a:ext>
            </a:extLst>
          </p:cNvPr>
          <p:cNvSpPr txBox="1"/>
          <p:nvPr/>
        </p:nvSpPr>
        <p:spPr>
          <a:xfrm>
            <a:off x="4690800" y="315630"/>
            <a:ext cx="1901483" cy="523220"/>
          </a:xfrm>
          <a:prstGeom prst="rect">
            <a:avLst/>
          </a:prstGeom>
          <a:noFill/>
        </p:spPr>
        <p:txBody>
          <a:bodyPr wrap="none" rtlCol="0">
            <a:spAutoFit/>
          </a:bodyPr>
          <a:lstStyle/>
          <a:p>
            <a:r>
              <a:rPr lang="en-US" sz="2800" b="1" dirty="0">
                <a:solidFill>
                  <a:schemeClr val="tx2"/>
                </a:solidFill>
                <a:latin typeface="Times New Roman" panose="02020603050405020304" pitchFamily="18" charset="0"/>
                <a:cs typeface="Times New Roman" panose="02020603050405020304" pitchFamily="18" charset="0"/>
              </a:rPr>
              <a:t>Conclusion</a:t>
            </a:r>
            <a:endParaRPr lang="en-IN" sz="2800" b="1" dirty="0">
              <a:solidFill>
                <a:schemeClr val="tx2"/>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99A7423-D9F5-40C3-A6AA-C53875D6C0DD}"/>
              </a:ext>
            </a:extLst>
          </p:cNvPr>
          <p:cNvSpPr txBox="1"/>
          <p:nvPr/>
        </p:nvSpPr>
        <p:spPr>
          <a:xfrm>
            <a:off x="675861" y="1802296"/>
            <a:ext cx="10469217" cy="369332"/>
          </a:xfrm>
          <a:prstGeom prst="rect">
            <a:avLst/>
          </a:prstGeom>
          <a:noFill/>
        </p:spPr>
        <p:txBody>
          <a:bodyPr wrap="square" rtlCol="0">
            <a:spAutoFit/>
          </a:bodyPr>
          <a:lstStyle/>
          <a:p>
            <a:endParaRPr lang="en-IN" dirty="0"/>
          </a:p>
        </p:txBody>
      </p:sp>
      <p:sp>
        <p:nvSpPr>
          <p:cNvPr id="13" name="Rectangle 1">
            <a:extLst>
              <a:ext uri="{FF2B5EF4-FFF2-40B4-BE49-F238E27FC236}">
                <a16:creationId xmlns:a16="http://schemas.microsoft.com/office/drawing/2014/main" id="{D9032415-3EB0-4478-9502-0B7111DFC4DA}"/>
              </a:ext>
            </a:extLst>
          </p:cNvPr>
          <p:cNvSpPr>
            <a:spLocks noChangeArrowheads="1"/>
          </p:cNvSpPr>
          <p:nvPr/>
        </p:nvSpPr>
        <p:spPr bwMode="auto">
          <a:xfrm>
            <a:off x="371060" y="1457829"/>
            <a:ext cx="11078818"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lang="en-US" altLang="en-US" sz="2000" dirty="0">
                <a:latin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ntroducing lag feature in time-series data</a:t>
            </a:r>
          </a:p>
          <a:p>
            <a:pPr marL="0" marR="0" lvl="0" indent="0" algn="just" defTabSz="914400" rtl="0" eaLnBrk="0" fontAlgn="base" latinLnBrk="0" hangingPunct="0">
              <a:lnSpc>
                <a:spcPct val="150000"/>
              </a:lnSpc>
              <a:spcBef>
                <a:spcPct val="0"/>
              </a:spcBef>
              <a:spcAft>
                <a:spcPct val="0"/>
              </a:spcAft>
              <a:buClrTx/>
              <a:buSzTx/>
              <a:buFontTx/>
              <a:buNone/>
              <a:tabLst/>
            </a:pPr>
            <a:r>
              <a:rPr lang="en-US" sz="2000" dirty="0">
                <a:latin typeface="Times New Roman" panose="02020603050405020304" pitchFamily="18" charset="0"/>
                <a:cs typeface="Times New Roman" panose="02020603050405020304" pitchFamily="18" charset="0"/>
              </a:rPr>
              <a:t>R</a:t>
            </a:r>
            <a:r>
              <a:rPr lang="en-US" sz="2000" dirty="0">
                <a:effectLst/>
                <a:latin typeface="Times New Roman" panose="02020603050405020304" pitchFamily="18" charset="0"/>
                <a:cs typeface="Times New Roman" panose="02020603050405020304" pitchFamily="18" charset="0"/>
              </a:rPr>
              <a:t>educe overhead issue causing from distributed nodes</a:t>
            </a:r>
            <a:endParaRPr 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lang="en-US" sz="2000" dirty="0">
                <a:latin typeface="Times New Roman" panose="02020603050405020304" pitchFamily="18" charset="0"/>
                <a:cs typeface="Times New Roman" panose="02020603050405020304" pitchFamily="18" charset="0"/>
              </a:rPr>
              <a:t>I</a:t>
            </a:r>
            <a:r>
              <a:rPr lang="en-US" sz="2000" dirty="0">
                <a:effectLst/>
                <a:latin typeface="Times New Roman" panose="02020603050405020304" pitchFamily="18" charset="0"/>
                <a:cs typeface="Times New Roman" panose="02020603050405020304" pitchFamily="18" charset="0"/>
              </a:rPr>
              <a:t>mplement decentralized co-ordination mechanism (vote polling, permission control for resultant data)</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379308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15</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61058"/>
            <a:ext cx="879597" cy="722905"/>
          </a:xfrm>
          <a:prstGeom prst="rect">
            <a:avLst/>
          </a:prstGeom>
        </p:spPr>
      </p:pic>
      <p:pic>
        <p:nvPicPr>
          <p:cNvPr id="2" name="Picture 1">
            <a:extLst>
              <a:ext uri="{FF2B5EF4-FFF2-40B4-BE49-F238E27FC236}">
                <a16:creationId xmlns:a16="http://schemas.microsoft.com/office/drawing/2014/main" id="{552177D8-53FC-C90B-E187-66383B633A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63592"/>
            <a:ext cx="3603009" cy="1117836"/>
          </a:xfrm>
          <a:prstGeom prst="rect">
            <a:avLst/>
          </a:prstGeom>
        </p:spPr>
      </p:pic>
      <p:sp>
        <p:nvSpPr>
          <p:cNvPr id="3" name="TextBox 2">
            <a:extLst>
              <a:ext uri="{FF2B5EF4-FFF2-40B4-BE49-F238E27FC236}">
                <a16:creationId xmlns:a16="http://schemas.microsoft.com/office/drawing/2014/main" id="{295A947C-87F9-458A-83FC-CF58FCAA9E26}"/>
              </a:ext>
            </a:extLst>
          </p:cNvPr>
          <p:cNvSpPr txBox="1"/>
          <p:nvPr/>
        </p:nvSpPr>
        <p:spPr>
          <a:xfrm>
            <a:off x="132928" y="1181428"/>
            <a:ext cx="11808025" cy="5770811"/>
          </a:xfrm>
          <a:prstGeom prst="rect">
            <a:avLst/>
          </a:prstGeom>
          <a:noFill/>
        </p:spPr>
        <p:txBody>
          <a:bodyPr wrap="square" rtlCol="0">
            <a:spAutoFit/>
          </a:bodyPr>
          <a:lstStyle/>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[1] H. B. McMahan et al., “Communication-efficient learning of deep networks from decentralized data,” in Proc. AISTATS, 2017.</a:t>
            </a:r>
          </a:p>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[2] P. </a:t>
            </a:r>
            <a:r>
              <a:rPr lang="en-US" sz="1800" b="0" i="0" u="none" strike="noStrike" baseline="0" dirty="0" err="1">
                <a:latin typeface="Times New Roman" panose="02020603050405020304" pitchFamily="18" charset="0"/>
                <a:cs typeface="Times New Roman" panose="02020603050405020304" pitchFamily="18" charset="0"/>
              </a:rPr>
              <a:t>Kairouz</a:t>
            </a:r>
            <a:r>
              <a:rPr lang="en-US" sz="1800" b="0" i="0" u="none" strike="noStrike" baseline="0" dirty="0">
                <a:latin typeface="Times New Roman" panose="02020603050405020304" pitchFamily="18" charset="0"/>
                <a:cs typeface="Times New Roman" panose="02020603050405020304" pitchFamily="18" charset="0"/>
              </a:rPr>
              <a:t> et al., “Advances and open problems in federated learning,” Found. Trends Mach. Learn., 2019.</a:t>
            </a:r>
          </a:p>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[3] Q. Yang et al., “Federated machine learning: Concept and applications,” </a:t>
            </a:r>
            <a:r>
              <a:rPr lang="en-IN" sz="1800" b="0" i="0" u="none" strike="noStrike" baseline="0" dirty="0">
                <a:latin typeface="Times New Roman" panose="02020603050405020304" pitchFamily="18" charset="0"/>
                <a:cs typeface="Times New Roman" panose="02020603050405020304" pitchFamily="18" charset="0"/>
              </a:rPr>
              <a:t>ACM Trans. </a:t>
            </a:r>
            <a:r>
              <a:rPr lang="en-IN" sz="1800" b="0" i="0" u="none" strike="noStrike" baseline="0" dirty="0" err="1">
                <a:latin typeface="Times New Roman" panose="02020603050405020304" pitchFamily="18" charset="0"/>
                <a:cs typeface="Times New Roman" panose="02020603050405020304" pitchFamily="18" charset="0"/>
              </a:rPr>
              <a:t>Intell</a:t>
            </a:r>
            <a:r>
              <a:rPr lang="en-IN" sz="1800" b="0" i="0" u="none" strike="noStrike" baseline="0" dirty="0">
                <a:latin typeface="Times New Roman" panose="02020603050405020304" pitchFamily="18" charset="0"/>
                <a:cs typeface="Times New Roman" panose="02020603050405020304" pitchFamily="18" charset="0"/>
              </a:rPr>
              <a:t>. Syst. Technol., 2019.</a:t>
            </a:r>
          </a:p>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[4] T. Li et al., “Federated learning: Challenges, methods, and future </a:t>
            </a:r>
            <a:r>
              <a:rPr lang="en-IN" sz="1800" b="0" i="0" u="none" strike="noStrike" baseline="0" dirty="0">
                <a:latin typeface="Times New Roman" panose="02020603050405020304" pitchFamily="18" charset="0"/>
                <a:cs typeface="Times New Roman" panose="02020603050405020304" pitchFamily="18" charset="0"/>
              </a:rPr>
              <a:t>directions,” IEEE Signal Process. Mag., 2020.</a:t>
            </a:r>
          </a:p>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[5] Z. Truex et al., “LDP-Fed: Differentially private federated learning via local differential privacy,” in Proc. WWW, 2020.</a:t>
            </a:r>
          </a:p>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[6] K. </a:t>
            </a:r>
            <a:r>
              <a:rPr lang="en-US" sz="1800" b="0" i="0" u="none" strike="noStrike" baseline="0" dirty="0" err="1">
                <a:latin typeface="Times New Roman" panose="02020603050405020304" pitchFamily="18" charset="0"/>
                <a:cs typeface="Times New Roman" panose="02020603050405020304" pitchFamily="18" charset="0"/>
              </a:rPr>
              <a:t>Bonawitz</a:t>
            </a:r>
            <a:r>
              <a:rPr lang="en-US" sz="1800" b="0" i="0" u="none" strike="noStrike" baseline="0" dirty="0">
                <a:latin typeface="Times New Roman" panose="02020603050405020304" pitchFamily="18" charset="0"/>
                <a:cs typeface="Times New Roman" panose="02020603050405020304" pitchFamily="18" charset="0"/>
              </a:rPr>
              <a:t> et al., “Practical secure aggregation for federated learning on user-held data,” in Proc. CCS, 2019.</a:t>
            </a:r>
          </a:p>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[7] A. Hard et al., “Federated learning for mobile keyboard prediction,” </a:t>
            </a:r>
            <a:r>
              <a:rPr lang="en-IN" sz="1800" b="0" i="0" u="none" strike="noStrike" baseline="0" dirty="0" err="1">
                <a:latin typeface="Times New Roman" panose="02020603050405020304" pitchFamily="18" charset="0"/>
                <a:cs typeface="Times New Roman" panose="02020603050405020304" pitchFamily="18" charset="0"/>
              </a:rPr>
              <a:t>arXiv</a:t>
            </a:r>
            <a:r>
              <a:rPr lang="en-IN" sz="1800" b="0" i="0" u="none" strike="noStrike" baseline="0" dirty="0">
                <a:latin typeface="Times New Roman" panose="02020603050405020304" pitchFamily="18" charset="0"/>
                <a:cs typeface="Times New Roman" panose="02020603050405020304" pitchFamily="18" charset="0"/>
              </a:rPr>
              <a:t> preprint, 2018.</a:t>
            </a:r>
          </a:p>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[8] Y. Liu and Q. Yang, “Privacy-preserving transfer learning: A survey,” </a:t>
            </a:r>
            <a:r>
              <a:rPr lang="en-IN" sz="1800" b="0" i="0" u="none" strike="noStrike" baseline="0" dirty="0">
                <a:latin typeface="Times New Roman" panose="02020603050405020304" pitchFamily="18" charset="0"/>
                <a:cs typeface="Times New Roman" panose="02020603050405020304" pitchFamily="18" charset="0"/>
              </a:rPr>
              <a:t>IEEE Trans. </a:t>
            </a:r>
            <a:r>
              <a:rPr lang="en-IN" sz="1800" b="0" i="0" u="none" strike="noStrike" baseline="0" dirty="0" err="1">
                <a:latin typeface="Times New Roman" panose="02020603050405020304" pitchFamily="18" charset="0"/>
                <a:cs typeface="Times New Roman" panose="02020603050405020304" pitchFamily="18" charset="0"/>
              </a:rPr>
              <a:t>Knowl</a:t>
            </a:r>
            <a:r>
              <a:rPr lang="en-IN" sz="1800" b="0" i="0" u="none" strike="noStrike" baseline="0" dirty="0">
                <a:latin typeface="Times New Roman" panose="02020603050405020304" pitchFamily="18" charset="0"/>
                <a:cs typeface="Times New Roman" panose="02020603050405020304" pitchFamily="18" charset="0"/>
              </a:rPr>
              <a:t>. Data Eng., 2020.</a:t>
            </a:r>
          </a:p>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[9] X. Li et al., “</a:t>
            </a:r>
            <a:r>
              <a:rPr lang="en-US" sz="1800" b="0" i="0" u="none" strike="noStrike" baseline="0" dirty="0" err="1">
                <a:latin typeface="Times New Roman" panose="02020603050405020304" pitchFamily="18" charset="0"/>
                <a:cs typeface="Times New Roman" panose="02020603050405020304" pitchFamily="18" charset="0"/>
              </a:rPr>
              <a:t>FedDANE</a:t>
            </a:r>
            <a:r>
              <a:rPr lang="en-US" sz="1800" b="0" i="0" u="none" strike="noStrike" baseline="0" dirty="0">
                <a:latin typeface="Times New Roman" panose="02020603050405020304" pitchFamily="18" charset="0"/>
                <a:cs typeface="Times New Roman" panose="02020603050405020304" pitchFamily="18" charset="0"/>
              </a:rPr>
              <a:t>: Federated optimization with DANE-style local </a:t>
            </a:r>
            <a:r>
              <a:rPr lang="en-IN" sz="1800" b="0" i="0" u="none" strike="noStrike" baseline="0" dirty="0">
                <a:latin typeface="Times New Roman" panose="02020603050405020304" pitchFamily="18" charset="0"/>
                <a:cs typeface="Times New Roman" panose="02020603050405020304" pitchFamily="18" charset="0"/>
              </a:rPr>
              <a:t>solvers,” in </a:t>
            </a:r>
            <a:r>
              <a:rPr lang="en-IN" sz="1800" b="0" i="0" u="none" strike="noStrike" baseline="0" dirty="0" err="1">
                <a:latin typeface="Times New Roman" panose="02020603050405020304" pitchFamily="18" charset="0"/>
                <a:cs typeface="Times New Roman" panose="02020603050405020304" pitchFamily="18" charset="0"/>
              </a:rPr>
              <a:t>NeurIPS</a:t>
            </a:r>
            <a:r>
              <a:rPr lang="en-IN" sz="1800" b="0" i="0" u="none" strike="noStrike" baseline="0" dirty="0">
                <a:latin typeface="Times New Roman" panose="02020603050405020304" pitchFamily="18" charset="0"/>
                <a:cs typeface="Times New Roman" panose="02020603050405020304" pitchFamily="18" charset="0"/>
              </a:rPr>
              <a:t>, 2021.</a:t>
            </a:r>
          </a:p>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[10] M. Nasr et al., “Comprehensive privacy analysis of deep learning,” in </a:t>
            </a:r>
            <a:r>
              <a:rPr lang="pl-PL" sz="1800" b="0" i="0" u="none" strike="noStrike" baseline="0" dirty="0">
                <a:latin typeface="Times New Roman" panose="02020603050405020304" pitchFamily="18" charset="0"/>
                <a:cs typeface="Times New Roman" panose="02020603050405020304" pitchFamily="18" charset="0"/>
              </a:rPr>
              <a:t>Proc. IEEE S&amp;P, 2019.</a:t>
            </a:r>
          </a:p>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[11] S. Zhang et al., “Communication-efficient federated learning: A survey,”</a:t>
            </a:r>
            <a:r>
              <a:rPr lang="en-IN" sz="1800" b="0" i="0" u="none" strike="noStrike" baseline="0" dirty="0" err="1">
                <a:latin typeface="Times New Roman" panose="02020603050405020304" pitchFamily="18" charset="0"/>
                <a:cs typeface="Times New Roman" panose="02020603050405020304" pitchFamily="18" charset="0"/>
              </a:rPr>
              <a:t>arXiv</a:t>
            </a:r>
            <a:r>
              <a:rPr lang="en-IN" sz="1800" b="0" i="0" u="none" strike="noStrike" baseline="0" dirty="0">
                <a:latin typeface="Times New Roman" panose="02020603050405020304" pitchFamily="18" charset="0"/>
                <a:cs typeface="Times New Roman" panose="02020603050405020304" pitchFamily="18" charset="0"/>
              </a:rPr>
              <a:t> preprint, 2020.</a:t>
            </a:r>
          </a:p>
          <a:p>
            <a:pPr algn="just">
              <a:lnSpc>
                <a:spcPct val="150000"/>
              </a:lnSpc>
            </a:pPr>
            <a:r>
              <a:rPr lang="en-US" sz="1800" b="0" i="0" u="none" strike="noStrike" baseline="0" dirty="0">
                <a:latin typeface="Times New Roman" panose="02020603050405020304" pitchFamily="18" charset="0"/>
                <a:cs typeface="Times New Roman" panose="02020603050405020304" pitchFamily="18" charset="0"/>
              </a:rPr>
              <a:t> </a:t>
            </a:r>
            <a:endParaRPr lang="en-IN" sz="1800" b="0" i="0" u="none" strike="noStrike" baseline="0" dirty="0">
              <a:latin typeface="Times New Roman" panose="02020603050405020304" pitchFamily="18" charset="0"/>
              <a:cs typeface="Times New Roman" panose="02020603050405020304" pitchFamily="18" charset="0"/>
            </a:endParaRPr>
          </a:p>
          <a:p>
            <a:pPr algn="l"/>
            <a:endParaRPr lang="en-IN" dirty="0"/>
          </a:p>
        </p:txBody>
      </p:sp>
      <p:sp>
        <p:nvSpPr>
          <p:cNvPr id="7" name="TextBox 6">
            <a:extLst>
              <a:ext uri="{FF2B5EF4-FFF2-40B4-BE49-F238E27FC236}">
                <a16:creationId xmlns:a16="http://schemas.microsoft.com/office/drawing/2014/main" id="{F88E9139-7C74-40BA-8206-E173B8ACCF6F}"/>
              </a:ext>
            </a:extLst>
          </p:cNvPr>
          <p:cNvSpPr txBox="1"/>
          <p:nvPr/>
        </p:nvSpPr>
        <p:spPr>
          <a:xfrm>
            <a:off x="4824251" y="360900"/>
            <a:ext cx="1710661" cy="523220"/>
          </a:xfrm>
          <a:prstGeom prst="rect">
            <a:avLst/>
          </a:prstGeom>
          <a:noFill/>
        </p:spPr>
        <p:txBody>
          <a:bodyPr wrap="none" rtlCol="0">
            <a:spAutoFit/>
          </a:bodyPr>
          <a:lstStyle/>
          <a:p>
            <a:r>
              <a:rPr lang="en-US" sz="2800" b="1" dirty="0">
                <a:solidFill>
                  <a:schemeClr val="tx2"/>
                </a:solidFill>
                <a:latin typeface="Times New Roman" panose="02020603050405020304" pitchFamily="18" charset="0"/>
                <a:cs typeface="Times New Roman" panose="02020603050405020304" pitchFamily="18" charset="0"/>
              </a:rPr>
              <a:t>Reference</a:t>
            </a:r>
            <a:endParaRPr lang="en-IN" sz="2800" b="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58102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a:xfrm>
            <a:off x="9135504" y="6396075"/>
            <a:ext cx="2844800" cy="365125"/>
          </a:xfrm>
        </p:spPr>
        <p:txBody>
          <a:bodyPr/>
          <a:lstStyle/>
          <a:p>
            <a:fld id="{8FA272BB-64A1-4A54-AE08-B088513E2C1B}" type="slidenum">
              <a:rPr lang="en-US" sz="2000" b="1" smtClean="0">
                <a:solidFill>
                  <a:schemeClr val="tx1"/>
                </a:solidFill>
                <a:latin typeface="Times New Roman" panose="02020603050405020304" pitchFamily="18" charset="0"/>
                <a:cs typeface="Times New Roman" panose="02020603050405020304" pitchFamily="18" charset="0"/>
              </a:rPr>
              <a:pPr/>
              <a:t>16</a:t>
            </a:fld>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p:cNvSpPr txBox="1">
            <a:spLocks/>
          </p:cNvSpPr>
          <p:nvPr/>
        </p:nvSpPr>
        <p:spPr>
          <a:xfrm>
            <a:off x="4036422" y="6396075"/>
            <a:ext cx="7510536"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5"/>
          <a:stretch>
            <a:fillRect/>
          </a:stretch>
        </p:blipFill>
        <p:spPr>
          <a:xfrm>
            <a:off x="10902152" y="261058"/>
            <a:ext cx="879597" cy="722905"/>
          </a:xfrm>
          <a:prstGeom prst="rect">
            <a:avLst/>
          </a:prstGeom>
        </p:spPr>
      </p:pic>
      <p:pic>
        <p:nvPicPr>
          <p:cNvPr id="2" name="Picture 1">
            <a:extLst>
              <a:ext uri="{FF2B5EF4-FFF2-40B4-BE49-F238E27FC236}">
                <a16:creationId xmlns:a16="http://schemas.microsoft.com/office/drawing/2014/main" id="{552177D8-53FC-C90B-E187-66383B633A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63592"/>
            <a:ext cx="3603009" cy="1117836"/>
          </a:xfrm>
          <a:prstGeom prst="rect">
            <a:avLst/>
          </a:prstGeom>
        </p:spPr>
      </p:pic>
      <p:sp>
        <p:nvSpPr>
          <p:cNvPr id="3" name="TextBox 2">
            <a:extLst>
              <a:ext uri="{FF2B5EF4-FFF2-40B4-BE49-F238E27FC236}">
                <a16:creationId xmlns:a16="http://schemas.microsoft.com/office/drawing/2014/main" id="{311071EF-0DAA-49B6-B425-54955D7E9698}"/>
              </a:ext>
            </a:extLst>
          </p:cNvPr>
          <p:cNvSpPr txBox="1"/>
          <p:nvPr/>
        </p:nvSpPr>
        <p:spPr>
          <a:xfrm>
            <a:off x="3034748" y="2479875"/>
            <a:ext cx="6100756" cy="830997"/>
          </a:xfrm>
          <a:prstGeom prst="rect">
            <a:avLst/>
          </a:prstGeom>
          <a:noFill/>
        </p:spPr>
        <p:txBody>
          <a:bodyPr wrap="square" rtlCol="0">
            <a:spAutoFit/>
          </a:bodyPr>
          <a:lstStyle/>
          <a:p>
            <a:r>
              <a:rPr lang="en-US" sz="4800" b="1" dirty="0">
                <a:latin typeface="Times New Roman" panose="02020603050405020304" pitchFamily="18" charset="0"/>
                <a:cs typeface="Times New Roman" panose="02020603050405020304" pitchFamily="18" charset="0"/>
              </a:rPr>
              <a:t>      THANK YOU</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9462971"/>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333DFD930E4F48BD619BF6250D1558" ma:contentTypeVersion="11" ma:contentTypeDescription="Create a new document." ma:contentTypeScope="" ma:versionID="668dc0b2883c885e9a55143660345e3b">
  <xsd:schema xmlns:xsd="http://www.w3.org/2001/XMLSchema" xmlns:xs="http://www.w3.org/2001/XMLSchema" xmlns:p="http://schemas.microsoft.com/office/2006/metadata/properties" xmlns:ns2="aa1f789f-ba6b-4728-b437-5721bb2b0884" xmlns:ns3="914c0a93-b301-4116-aabc-065af1997e9a" targetNamespace="http://schemas.microsoft.com/office/2006/metadata/properties" ma:root="true" ma:fieldsID="49cf003709020a42a1bed65e166e4402" ns2:_="" ns3:_="">
    <xsd:import namespace="aa1f789f-ba6b-4728-b437-5721bb2b0884"/>
    <xsd:import namespace="914c0a93-b301-4116-aabc-065af1997e9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1f789f-ba6b-4728-b437-5721bb2b08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3695f54-0313-4fa9-b213-fca658f9ecd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14c0a93-b301-4116-aabc-065af1997e9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f8553a9-1158-4698-a7c1-e32c55a77f1b}" ma:internalName="TaxCatchAll" ma:showField="CatchAllData" ma:web="914c0a93-b301-4116-aabc-065af1997e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14c0a93-b301-4116-aabc-065af1997e9a" xsi:nil="true"/>
    <lcf76f155ced4ddcb4097134ff3c332f xmlns="aa1f789f-ba6b-4728-b437-5721bb2b088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655E780-9D5C-45E2-9378-4A03DFC22D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1f789f-ba6b-4728-b437-5721bb2b0884"/>
    <ds:schemaRef ds:uri="914c0a93-b301-4116-aabc-065af1997e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F3727EE-86D1-4781-A932-4A2252E3CAD4}">
  <ds:schemaRefs>
    <ds:schemaRef ds:uri="http://schemas.microsoft.com/sharepoint/v3/contenttype/forms"/>
  </ds:schemaRefs>
</ds:datastoreItem>
</file>

<file path=customXml/itemProps3.xml><?xml version="1.0" encoding="utf-8"?>
<ds:datastoreItem xmlns:ds="http://schemas.openxmlformats.org/officeDocument/2006/customXml" ds:itemID="{0A0404DF-3570-4AB0-8CB7-D54448F06D4C}">
  <ds:schemaRefs>
    <ds:schemaRef ds:uri="http://schemas.microsoft.com/office/2006/metadata/properties"/>
    <ds:schemaRef ds:uri="http://schemas.microsoft.com/office/infopath/2007/PartnerControls"/>
    <ds:schemaRef ds:uri="914c0a93-b301-4116-aabc-065af1997e9a"/>
    <ds:schemaRef ds:uri="aa1f789f-ba6b-4728-b437-5721bb2b0884"/>
  </ds:schemaRefs>
</ds:datastoreItem>
</file>

<file path=docProps/app.xml><?xml version="1.0" encoding="utf-8"?>
<Properties xmlns="http://schemas.openxmlformats.org/officeDocument/2006/extended-properties" xmlns:vt="http://schemas.openxmlformats.org/officeDocument/2006/docPropsVTypes">
  <TotalTime>921</TotalTime>
  <Words>1763</Words>
  <Application>Microsoft Office PowerPoint</Application>
  <PresentationFormat>Widescreen</PresentationFormat>
  <Paragraphs>238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members name with USN                                                                                                                   Project Guide name with designation</dc:title>
  <dc:creator>ANITHA D B</dc:creator>
  <cp:lastModifiedBy>Admin</cp:lastModifiedBy>
  <cp:revision>140</cp:revision>
  <dcterms:created xsi:type="dcterms:W3CDTF">2024-10-08T07:43:06Z</dcterms:created>
  <dcterms:modified xsi:type="dcterms:W3CDTF">2025-11-03T16:20:11Z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0x01010022333DFD930E4F48BD619BF6250D1558</vt:lpwstr>
  </property>
  <property fmtid="{D5CDD505-2E9C-101B-9397-08002B2CF9AE}" pid="3" name="MediaServiceImageTags">
    <vt:lpwstr/>
  </property>
</Properties>
</file>